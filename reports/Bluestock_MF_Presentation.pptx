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7" name="Shape 1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30-second intro: an end-to-end mutual fund analytics platform — from raw, fragmented data to an executive Tableau dashboard, plus forward-looking simulations.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" name="Shape 1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Fragmentation across six data families means no one can easily answer 'which fund, for whom, at what risk?'. The objective: unify it and turn it into decisions.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" name="Shape 1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Seven dataset families, ~120k records over 4.4 years. Variety enables performance, risk and behavioural analytics no single file could support.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8" name="Shape 2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A linear, reproducible pipeline: validate, clean, load to a SQLite star schema; notebooks layer EDA, performance, advanced and bonus analytics; Tableau delivers.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1" name="Shape 2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85% equity universe; investors skew male (66%) and T30 metros (66%); daily returns are fat-tailed (excess kurtosis +3.10); AUM compounds steadily.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4" name="Shape 2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SIPs are 60% of transactions; inflows led by Punjab, Madhya Pradesh, Tamil Nadu — equity-led, SIP-driven participation.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7" name="Shape 3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Six-factor framework rolled into a 0–100 composite scorecard. Mirae Asset Large Cap ranks #1 (85.9), leading Sharpe (1.07) and Sortino (1.49).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1" name="Shape 3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Tail risk varies ~93×; SIP continuity is the red flag (30 of 1,362 healthy); UTI Mid Cap most diversified (8.1 sectors), Axis Bluechip most concentrated (3.4).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6" name="Shape 3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Two forward-looking analyses. Monte Carlo projects the #1 fund's NAV 5 years out as a range of outcomes. The efficient frontier turns fund selection into portfolio construction. Note the synthetic-data caveat: near-zero correlation inflates Sharpe.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3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1" name="Shape 3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Pages 1–2: industry pulse and the fund league table — KPI cards, AUM trends, fund-house share, scorecards and performance comparison.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6" name="Shape 3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Pages 3–4: the investor lens — demographics and transaction behaviour, SIP growth and category trends. No SQL needed for business users.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4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5" name="Shape 4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A clear performance winner, a quantified risk gradient, a retention problem to act on, forward-looking projections, a working recommender, and one dashboard as the source of truth.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4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0" name="Shape 4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Wrap up: eight deliverables, fully built — including the bonus Monte Carlo and efficient-frontier work. The platform turns fragmented data into actionable insight. Happy to take questions.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431800" indent="-406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431800" indent="762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431800" indent="5588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431800" indent="1041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431800" indent="14986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8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7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6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500"/>
              </a:spcBef>
              <a:buSzPts val="2800"/>
              <a:defRPr sz="2800"/>
            </a:lvl1pPr>
            <a:lvl2pPr marL="977900" indent="-444500">
              <a:spcBef>
                <a:spcPts val="500"/>
              </a:spcBef>
              <a:buSzPts val="2800"/>
              <a:defRPr sz="2800"/>
            </a:lvl2pPr>
            <a:lvl3pPr marL="1513839" indent="-497839">
              <a:spcBef>
                <a:spcPts val="500"/>
              </a:spcBef>
              <a:buSzPts val="2800"/>
              <a:defRPr sz="2800"/>
            </a:lvl3pPr>
            <a:lvl4pPr marL="2019300" indent="-533400">
              <a:spcBef>
                <a:spcPts val="500"/>
              </a:spcBef>
              <a:buSzPts val="2800"/>
              <a:defRPr sz="2800"/>
            </a:lvl4pPr>
            <a:lvl5pPr marL="2476500" indent="-533400">
              <a:spcBef>
                <a:spcPts val="500"/>
              </a:spcBef>
              <a:buSzPts val="2800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Google Shape;36;p6"/>
          <p:cNvSpPr txBox="1"/>
          <p:nvPr>
            <p:ph type="body" sz="half" idx="2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indent="-406400">
              <a:spcBef>
                <a:spcPts val="500"/>
              </a:spcBef>
              <a:buSzPts val="2800"/>
              <a:defRPr sz="2800"/>
            </a:pP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b="1" sz="2400"/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b="1" sz="2400"/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b="1" sz="2400"/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b="1" sz="2400"/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Google Shape;43;p7"/>
          <p:cNvSpPr txBox="1"/>
          <p:nvPr>
            <p:ph type="body" sz="quarter" idx="2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</a:p>
        </p:txBody>
      </p:sp>
      <p:sp>
        <p:nvSpPr>
          <p:cNvPr id="58" name="Google Shape;44;p7"/>
          <p:cNvSpPr txBox="1"/>
          <p:nvPr>
            <p:ph type="body" sz="quarter" idx="22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228600" indent="0">
              <a:spcBef>
                <a:spcPts val="400"/>
              </a:spcBef>
              <a:buClrTx/>
              <a:buSzTx/>
              <a:buFontTx/>
              <a:buNone/>
              <a:defRPr b="1" sz="2400"/>
            </a:pPr>
          </a:p>
        </p:txBody>
      </p:sp>
      <p:sp>
        <p:nvSpPr>
          <p:cNvPr id="59" name="Google Shape;45;p7"/>
          <p:cNvSpPr txBox="1"/>
          <p:nvPr>
            <p:ph type="body" sz="quarter" idx="23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57;p9"/>
          <p:cNvSpPr txBox="1"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228600" indent="0">
              <a:spcBef>
                <a:spcPts val="200"/>
              </a:spcBef>
              <a:buClrTx/>
              <a:buSzTx/>
              <a:buFontTx/>
              <a:buNone/>
              <a:defRPr sz="14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Google Shape;63;p10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200"/>
              </a:spcBef>
              <a:buClrTx/>
              <a:buSzTx/>
              <a:buFontTx/>
              <a:buNone/>
              <a:defRPr sz="1400"/>
            </a:lvl1pPr>
            <a:lvl2pPr marL="228600" indent="457200">
              <a:spcBef>
                <a:spcPts val="200"/>
              </a:spcBef>
              <a:buClrTx/>
              <a:buSzTx/>
              <a:buFontTx/>
              <a:buNone/>
              <a:defRPr sz="1400"/>
            </a:lvl2pPr>
            <a:lvl3pPr marL="228600" indent="914400">
              <a:spcBef>
                <a:spcPts val="200"/>
              </a:spcBef>
              <a:buClrTx/>
              <a:buSzTx/>
              <a:buFontTx/>
              <a:buNone/>
              <a:defRPr sz="1400"/>
            </a:lvl3pPr>
            <a:lvl4pPr marL="228600" indent="1371600">
              <a:spcBef>
                <a:spcPts val="200"/>
              </a:spcBef>
              <a:buClrTx/>
              <a:buSzTx/>
              <a:buFontTx/>
              <a:buNone/>
              <a:defRPr sz="1400"/>
            </a:lvl4pPr>
            <a:lvl5pPr marL="228600" indent="1828800">
              <a:spcBef>
                <a:spcPts val="200"/>
              </a:spcBef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idx="1"/>
          </p:nvPr>
        </p:nvSpPr>
        <p:spPr>
          <a:xfrm rot="5400000">
            <a:off x="2309018" y="-251618"/>
            <a:ext cx="4525964" cy="82296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 rot="5400000">
            <a:off x="4732337" y="2171700"/>
            <a:ext cx="5851526" cy="20574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idx="1"/>
          </p:nvPr>
        </p:nvSpPr>
        <p:spPr>
          <a:xfrm rot="5400000">
            <a:off x="541337" y="190500"/>
            <a:ext cx="5851526" cy="6019800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4318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2457" marR="0" indent="-464457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498600" marR="0" indent="-5080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421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993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565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137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709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281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85;p13"/>
          <p:cNvSpPr/>
          <p:nvPr/>
        </p:nvSpPr>
        <p:spPr>
          <a:xfrm>
            <a:off x="-1" y="0"/>
            <a:ext cx="146306" cy="6858000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Google Shape;86;p13"/>
          <p:cNvSpPr txBox="1"/>
          <p:nvPr/>
        </p:nvSpPr>
        <p:spPr>
          <a:xfrm>
            <a:off x="2081645" y="1229867"/>
            <a:ext cx="5461001" cy="43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32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bluestock</a:t>
            </a:r>
          </a:p>
        </p:txBody>
      </p:sp>
      <p:sp>
        <p:nvSpPr>
          <p:cNvPr id="117" name="Google Shape;87;p13"/>
          <p:cNvSpPr txBox="1"/>
          <p:nvPr/>
        </p:nvSpPr>
        <p:spPr>
          <a:xfrm>
            <a:off x="850900" y="2011679"/>
            <a:ext cx="10490200" cy="535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 Platform</a:t>
            </a:r>
          </a:p>
        </p:txBody>
      </p:sp>
      <p:sp>
        <p:nvSpPr>
          <p:cNvPr id="118" name="Google Shape;88;p13"/>
          <p:cNvSpPr txBox="1"/>
          <p:nvPr/>
        </p:nvSpPr>
        <p:spPr>
          <a:xfrm>
            <a:off x="927100" y="3200399"/>
            <a:ext cx="10490200" cy="234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600">
                <a:solidFill>
                  <a:srgbClr val="C7CCE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End-to-End Data Engineering, Analytics &amp; Dashboard Project</a:t>
            </a:r>
          </a:p>
        </p:txBody>
      </p:sp>
      <p:sp>
        <p:nvSpPr>
          <p:cNvPr id="119" name="Google Shape;89;p13"/>
          <p:cNvSpPr/>
          <p:nvPr/>
        </p:nvSpPr>
        <p:spPr>
          <a:xfrm>
            <a:off x="932688" y="3794759"/>
            <a:ext cx="4572001" cy="41149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0" name="Google Shape;90;p13"/>
          <p:cNvSpPr txBox="1"/>
          <p:nvPr/>
        </p:nvSpPr>
        <p:spPr>
          <a:xfrm>
            <a:off x="927100" y="4069079"/>
            <a:ext cx="10033000" cy="192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300">
                <a:solidFill>
                  <a:srgbClr val="9FA8D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40 schemes   ·   64,320 daily NAVs   ·   32,778 transactions</a:t>
            </a:r>
          </a:p>
        </p:txBody>
      </p:sp>
      <p:sp>
        <p:nvSpPr>
          <p:cNvPr id="121" name="Google Shape;91;p13"/>
          <p:cNvSpPr txBox="1"/>
          <p:nvPr/>
        </p:nvSpPr>
        <p:spPr>
          <a:xfrm>
            <a:off x="927100" y="5029199"/>
            <a:ext cx="7289800" cy="244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Dheeraj Reddy Thumma</a:t>
            </a:r>
          </a:p>
        </p:txBody>
      </p:sp>
      <p:sp>
        <p:nvSpPr>
          <p:cNvPr id="122" name="Google Shape;92;p13"/>
          <p:cNvSpPr txBox="1"/>
          <p:nvPr/>
        </p:nvSpPr>
        <p:spPr>
          <a:xfrm>
            <a:off x="927100" y="5440679"/>
            <a:ext cx="7289800" cy="15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100">
                <a:solidFill>
                  <a:srgbClr val="C7CCE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Data Analyst Intern  ·  Bluestock</a:t>
            </a:r>
          </a:p>
        </p:txBody>
      </p:sp>
      <p:sp>
        <p:nvSpPr>
          <p:cNvPr id="123" name="Google Shape;93;p13"/>
          <p:cNvSpPr txBox="1"/>
          <p:nvPr/>
        </p:nvSpPr>
        <p:spPr>
          <a:xfrm>
            <a:off x="927100" y="5760720"/>
            <a:ext cx="7289800" cy="15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100">
                <a:solidFill>
                  <a:srgbClr val="C7CCE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124" name="Google Shape;94;p13"/>
          <p:cNvSpPr txBox="1"/>
          <p:nvPr/>
        </p:nvSpPr>
        <p:spPr>
          <a:xfrm>
            <a:off x="927100" y="6263640"/>
            <a:ext cx="7289800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9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Internship Capstone  ·  Status: COMPLETE</a:t>
            </a:r>
          </a:p>
        </p:txBody>
      </p:sp>
      <p:pic>
        <p:nvPicPr>
          <p:cNvPr id="125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0" t="0" r="84954" b="0"/>
          <a:stretch>
            <a:fillRect/>
          </a:stretch>
        </p:blipFill>
        <p:spPr>
          <a:xfrm>
            <a:off x="838200" y="958965"/>
            <a:ext cx="1014965" cy="875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00;p14"/>
          <p:cNvSpPr txBox="1"/>
          <p:nvPr/>
        </p:nvSpPr>
        <p:spPr>
          <a:xfrm>
            <a:off x="8699499" y="182879"/>
            <a:ext cx="3266442" cy="211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b="1" sz="15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bluestock</a:t>
            </a:r>
          </a:p>
        </p:txBody>
      </p:sp>
      <p:sp>
        <p:nvSpPr>
          <p:cNvPr id="130" name="Google Shape;101;p14"/>
          <p:cNvSpPr txBox="1"/>
          <p:nvPr/>
        </p:nvSpPr>
        <p:spPr>
          <a:xfrm>
            <a:off x="8699499" y="502919"/>
            <a:ext cx="3266442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</a:t>
            </a:r>
          </a:p>
        </p:txBody>
      </p:sp>
      <p:sp>
        <p:nvSpPr>
          <p:cNvPr id="131" name="Google Shape;102;p14"/>
          <p:cNvSpPr txBox="1"/>
          <p:nvPr/>
        </p:nvSpPr>
        <p:spPr>
          <a:xfrm>
            <a:off x="515619" y="292608"/>
            <a:ext cx="6375401" cy="182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2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132" name="Google Shape;103;p14"/>
          <p:cNvSpPr txBox="1"/>
          <p:nvPr/>
        </p:nvSpPr>
        <p:spPr>
          <a:xfrm>
            <a:off x="469900" y="566927"/>
            <a:ext cx="8661400" cy="371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26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Problem Statement &amp; Objectives</a:t>
            </a:r>
          </a:p>
        </p:txBody>
      </p:sp>
      <p:sp>
        <p:nvSpPr>
          <p:cNvPr id="133" name="Google Shape;104;p14"/>
          <p:cNvSpPr/>
          <p:nvPr/>
        </p:nvSpPr>
        <p:spPr>
          <a:xfrm>
            <a:off x="502919" y="1280160"/>
            <a:ext cx="2926082" cy="41149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Google Shape;105;p14"/>
          <p:cNvSpPr/>
          <p:nvPr/>
        </p:nvSpPr>
        <p:spPr>
          <a:xfrm>
            <a:off x="502919" y="6355079"/>
            <a:ext cx="11183113" cy="18289"/>
          </a:xfrm>
          <a:prstGeom prst="rect">
            <a:avLst/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5" name="Google Shape;106;p14"/>
          <p:cNvSpPr txBox="1"/>
          <p:nvPr/>
        </p:nvSpPr>
        <p:spPr>
          <a:xfrm>
            <a:off x="515619" y="6400799"/>
            <a:ext cx="728980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 Platform · Internship Capstone</a:t>
            </a:r>
          </a:p>
        </p:txBody>
      </p:sp>
      <p:sp>
        <p:nvSpPr>
          <p:cNvPr id="136" name="Google Shape;107;p14"/>
          <p:cNvSpPr txBox="1"/>
          <p:nvPr/>
        </p:nvSpPr>
        <p:spPr>
          <a:xfrm>
            <a:off x="10619740" y="6400799"/>
            <a:ext cx="107188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 / 13</a:t>
            </a:r>
          </a:p>
        </p:txBody>
      </p:sp>
      <p:sp>
        <p:nvSpPr>
          <p:cNvPr id="137" name="Google Shape;108;p14"/>
          <p:cNvSpPr/>
          <p:nvPr/>
        </p:nvSpPr>
        <p:spPr>
          <a:xfrm>
            <a:off x="502919" y="1920239"/>
            <a:ext cx="5120642" cy="3291842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" name="Google Shape;109;p14"/>
          <p:cNvSpPr txBox="1"/>
          <p:nvPr/>
        </p:nvSpPr>
        <p:spPr>
          <a:xfrm>
            <a:off x="515619" y="2194560"/>
            <a:ext cx="5095302" cy="3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2200">
                <a:solidFill>
                  <a:srgbClr val="4B2FB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39" name="Google Shape;110;p14"/>
          <p:cNvSpPr txBox="1"/>
          <p:nvPr/>
        </p:nvSpPr>
        <p:spPr>
          <a:xfrm>
            <a:off x="789927" y="3232944"/>
            <a:ext cx="4546601" cy="851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sz="18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data is fragmented across NAV, transactions, performance, AUM, benchmark and investor datasets - no single source of truth.</a:t>
            </a:r>
          </a:p>
        </p:txBody>
      </p:sp>
      <p:sp>
        <p:nvSpPr>
          <p:cNvPr id="140" name="Google Shape;111;p14"/>
          <p:cNvSpPr txBox="1"/>
          <p:nvPr/>
        </p:nvSpPr>
        <p:spPr>
          <a:xfrm>
            <a:off x="6520390" y="1854256"/>
            <a:ext cx="5461001" cy="211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5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OUR OBJECTIVES</a:t>
            </a:r>
          </a:p>
        </p:txBody>
      </p:sp>
      <p:sp>
        <p:nvSpPr>
          <p:cNvPr id="141" name="Google Shape;112;p14"/>
          <p:cNvSpPr txBox="1"/>
          <p:nvPr/>
        </p:nvSpPr>
        <p:spPr>
          <a:xfrm>
            <a:off x="6520390" y="2402897"/>
            <a:ext cx="248801" cy="234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6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▪</a:t>
            </a:r>
          </a:p>
        </p:txBody>
      </p:sp>
      <p:sp>
        <p:nvSpPr>
          <p:cNvPr id="142" name="Google Shape;113;p14"/>
          <p:cNvSpPr txBox="1"/>
          <p:nvPr/>
        </p:nvSpPr>
        <p:spPr>
          <a:xfrm>
            <a:off x="6794710" y="2402897"/>
            <a:ext cx="5278001" cy="244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7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Build an automated ETL pipeline</a:t>
            </a:r>
          </a:p>
        </p:txBody>
      </p:sp>
      <p:sp>
        <p:nvSpPr>
          <p:cNvPr id="143" name="Google Shape;114;p14"/>
          <p:cNvSpPr txBox="1"/>
          <p:nvPr/>
        </p:nvSpPr>
        <p:spPr>
          <a:xfrm>
            <a:off x="6520390" y="2878385"/>
            <a:ext cx="248801" cy="234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6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▪</a:t>
            </a:r>
          </a:p>
        </p:txBody>
      </p:sp>
      <p:sp>
        <p:nvSpPr>
          <p:cNvPr id="144" name="Google Shape;115;p14"/>
          <p:cNvSpPr txBox="1"/>
          <p:nvPr/>
        </p:nvSpPr>
        <p:spPr>
          <a:xfrm>
            <a:off x="6794710" y="2878385"/>
            <a:ext cx="5278001" cy="244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7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Create an analytics database</a:t>
            </a:r>
          </a:p>
        </p:txBody>
      </p:sp>
      <p:sp>
        <p:nvSpPr>
          <p:cNvPr id="145" name="Google Shape;116;p14"/>
          <p:cNvSpPr txBox="1"/>
          <p:nvPr/>
        </p:nvSpPr>
        <p:spPr>
          <a:xfrm>
            <a:off x="6520390" y="3353873"/>
            <a:ext cx="248801" cy="234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6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▪</a:t>
            </a:r>
          </a:p>
        </p:txBody>
      </p:sp>
      <p:sp>
        <p:nvSpPr>
          <p:cNvPr id="146" name="Google Shape;117;p14"/>
          <p:cNvSpPr txBox="1"/>
          <p:nvPr/>
        </p:nvSpPr>
        <p:spPr>
          <a:xfrm>
            <a:off x="6794710" y="3353873"/>
            <a:ext cx="5278001" cy="244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7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Perform fund performance analysis</a:t>
            </a:r>
          </a:p>
        </p:txBody>
      </p:sp>
      <p:sp>
        <p:nvSpPr>
          <p:cNvPr id="147" name="Google Shape;118;p14"/>
          <p:cNvSpPr txBox="1"/>
          <p:nvPr/>
        </p:nvSpPr>
        <p:spPr>
          <a:xfrm>
            <a:off x="6520390" y="3829361"/>
            <a:ext cx="248801" cy="234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6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▪</a:t>
            </a:r>
          </a:p>
        </p:txBody>
      </p:sp>
      <p:sp>
        <p:nvSpPr>
          <p:cNvPr id="148" name="Google Shape;119;p14"/>
          <p:cNvSpPr txBox="1"/>
          <p:nvPr/>
        </p:nvSpPr>
        <p:spPr>
          <a:xfrm>
            <a:off x="6794710" y="3829361"/>
            <a:ext cx="5278001" cy="244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7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Study investor behaviour</a:t>
            </a:r>
          </a:p>
        </p:txBody>
      </p:sp>
      <p:sp>
        <p:nvSpPr>
          <p:cNvPr id="149" name="Google Shape;120;p14"/>
          <p:cNvSpPr txBox="1"/>
          <p:nvPr/>
        </p:nvSpPr>
        <p:spPr>
          <a:xfrm>
            <a:off x="6520390" y="4304850"/>
            <a:ext cx="248801" cy="234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6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▪</a:t>
            </a:r>
          </a:p>
        </p:txBody>
      </p:sp>
      <p:sp>
        <p:nvSpPr>
          <p:cNvPr id="150" name="Google Shape;121;p14"/>
          <p:cNvSpPr txBox="1"/>
          <p:nvPr/>
        </p:nvSpPr>
        <p:spPr>
          <a:xfrm>
            <a:off x="6794710" y="4304850"/>
            <a:ext cx="5278001" cy="244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7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Develop a recommendation engine</a:t>
            </a:r>
          </a:p>
        </p:txBody>
      </p:sp>
      <p:sp>
        <p:nvSpPr>
          <p:cNvPr id="151" name="Google Shape;122;p14"/>
          <p:cNvSpPr txBox="1"/>
          <p:nvPr/>
        </p:nvSpPr>
        <p:spPr>
          <a:xfrm>
            <a:off x="6520390" y="4780338"/>
            <a:ext cx="248801" cy="234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6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▪</a:t>
            </a:r>
          </a:p>
        </p:txBody>
      </p:sp>
      <p:sp>
        <p:nvSpPr>
          <p:cNvPr id="152" name="Google Shape;123;p14"/>
          <p:cNvSpPr txBox="1"/>
          <p:nvPr/>
        </p:nvSpPr>
        <p:spPr>
          <a:xfrm>
            <a:off x="6794710" y="4780338"/>
            <a:ext cx="5278001" cy="244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7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Build an executive dashboard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29;p15"/>
          <p:cNvSpPr txBox="1"/>
          <p:nvPr/>
        </p:nvSpPr>
        <p:spPr>
          <a:xfrm>
            <a:off x="8699499" y="182879"/>
            <a:ext cx="3266501" cy="244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b="1" sz="17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bluestock</a:t>
            </a:r>
          </a:p>
        </p:txBody>
      </p:sp>
      <p:sp>
        <p:nvSpPr>
          <p:cNvPr id="157" name="Google Shape;130;p15"/>
          <p:cNvSpPr txBox="1"/>
          <p:nvPr/>
        </p:nvSpPr>
        <p:spPr>
          <a:xfrm>
            <a:off x="8699499" y="502919"/>
            <a:ext cx="326650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</a:t>
            </a:r>
          </a:p>
        </p:txBody>
      </p:sp>
      <p:sp>
        <p:nvSpPr>
          <p:cNvPr id="158" name="Google Shape;131;p15"/>
          <p:cNvSpPr txBox="1"/>
          <p:nvPr/>
        </p:nvSpPr>
        <p:spPr>
          <a:xfrm>
            <a:off x="509523" y="450227"/>
            <a:ext cx="6375401" cy="182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2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FOUNDATION</a:t>
            </a:r>
          </a:p>
        </p:txBody>
      </p:sp>
      <p:sp>
        <p:nvSpPr>
          <p:cNvPr id="159" name="Google Shape;132;p15"/>
          <p:cNvSpPr txBox="1"/>
          <p:nvPr/>
        </p:nvSpPr>
        <p:spPr>
          <a:xfrm>
            <a:off x="509523" y="657078"/>
            <a:ext cx="8661401" cy="37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28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Data Sources</a:t>
            </a:r>
          </a:p>
        </p:txBody>
      </p:sp>
      <p:sp>
        <p:nvSpPr>
          <p:cNvPr id="160" name="Google Shape;133;p15"/>
          <p:cNvSpPr/>
          <p:nvPr/>
        </p:nvSpPr>
        <p:spPr>
          <a:xfrm>
            <a:off x="502919" y="1280160"/>
            <a:ext cx="2926082" cy="41149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" name="Google Shape;134;p15"/>
          <p:cNvSpPr/>
          <p:nvPr/>
        </p:nvSpPr>
        <p:spPr>
          <a:xfrm>
            <a:off x="502919" y="6355079"/>
            <a:ext cx="11183113" cy="18289"/>
          </a:xfrm>
          <a:prstGeom prst="rect">
            <a:avLst/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2" name="Google Shape;135;p15"/>
          <p:cNvSpPr txBox="1"/>
          <p:nvPr/>
        </p:nvSpPr>
        <p:spPr>
          <a:xfrm>
            <a:off x="515619" y="6400799"/>
            <a:ext cx="728980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 Platform · Internship Capstone</a:t>
            </a:r>
          </a:p>
        </p:txBody>
      </p:sp>
      <p:sp>
        <p:nvSpPr>
          <p:cNvPr id="163" name="Google Shape;136;p15"/>
          <p:cNvSpPr txBox="1"/>
          <p:nvPr/>
        </p:nvSpPr>
        <p:spPr>
          <a:xfrm>
            <a:off x="10619740" y="6400799"/>
            <a:ext cx="107200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 / 13</a:t>
            </a:r>
          </a:p>
        </p:txBody>
      </p:sp>
      <p:sp>
        <p:nvSpPr>
          <p:cNvPr id="164" name="Google Shape;137;p15"/>
          <p:cNvSpPr/>
          <p:nvPr/>
        </p:nvSpPr>
        <p:spPr>
          <a:xfrm>
            <a:off x="502919" y="1783079"/>
            <a:ext cx="2606041" cy="9144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25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5" name="Google Shape;138;p15"/>
          <p:cNvSpPr txBox="1"/>
          <p:nvPr/>
        </p:nvSpPr>
        <p:spPr>
          <a:xfrm>
            <a:off x="515569" y="2131567"/>
            <a:ext cx="2580702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NAV History</a:t>
            </a:r>
          </a:p>
        </p:txBody>
      </p:sp>
      <p:sp>
        <p:nvSpPr>
          <p:cNvPr id="166" name="Google Shape;139;p15"/>
          <p:cNvSpPr/>
          <p:nvPr/>
        </p:nvSpPr>
        <p:spPr>
          <a:xfrm>
            <a:off x="3273552" y="1783079"/>
            <a:ext cx="2606041" cy="9144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25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7" name="Google Shape;140;p15"/>
          <p:cNvSpPr txBox="1"/>
          <p:nvPr/>
        </p:nvSpPr>
        <p:spPr>
          <a:xfrm>
            <a:off x="3286214" y="2128883"/>
            <a:ext cx="2580701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Investor Transactions</a:t>
            </a:r>
          </a:p>
        </p:txBody>
      </p:sp>
      <p:sp>
        <p:nvSpPr>
          <p:cNvPr id="168" name="Google Shape;141;p15"/>
          <p:cNvSpPr/>
          <p:nvPr/>
        </p:nvSpPr>
        <p:spPr>
          <a:xfrm>
            <a:off x="6044184" y="1783079"/>
            <a:ext cx="2606041" cy="9144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25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" name="Google Shape;142;p15"/>
          <p:cNvSpPr txBox="1"/>
          <p:nvPr/>
        </p:nvSpPr>
        <p:spPr>
          <a:xfrm>
            <a:off x="6056824" y="2135738"/>
            <a:ext cx="2580701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Fund Master</a:t>
            </a:r>
          </a:p>
        </p:txBody>
      </p:sp>
      <p:sp>
        <p:nvSpPr>
          <p:cNvPr id="170" name="Google Shape;143;p15"/>
          <p:cNvSpPr/>
          <p:nvPr/>
        </p:nvSpPr>
        <p:spPr>
          <a:xfrm>
            <a:off x="8814816" y="1783079"/>
            <a:ext cx="2606041" cy="9144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25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" name="Google Shape;144;p15"/>
          <p:cNvSpPr txBox="1"/>
          <p:nvPr/>
        </p:nvSpPr>
        <p:spPr>
          <a:xfrm>
            <a:off x="8877790" y="2121297"/>
            <a:ext cx="2580701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Scheme Performance</a:t>
            </a:r>
          </a:p>
        </p:txBody>
      </p:sp>
      <p:sp>
        <p:nvSpPr>
          <p:cNvPr id="172" name="Google Shape;145;p15"/>
          <p:cNvSpPr/>
          <p:nvPr/>
        </p:nvSpPr>
        <p:spPr>
          <a:xfrm>
            <a:off x="502919" y="2862072"/>
            <a:ext cx="2606041" cy="9144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25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" name="Google Shape;146;p15"/>
          <p:cNvSpPr txBox="1"/>
          <p:nvPr/>
        </p:nvSpPr>
        <p:spPr>
          <a:xfrm>
            <a:off x="515569" y="3174917"/>
            <a:ext cx="2580702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AUM History</a:t>
            </a:r>
          </a:p>
        </p:txBody>
      </p:sp>
      <p:sp>
        <p:nvSpPr>
          <p:cNvPr id="174" name="Google Shape;147;p15"/>
          <p:cNvSpPr/>
          <p:nvPr/>
        </p:nvSpPr>
        <p:spPr>
          <a:xfrm>
            <a:off x="3273552" y="2862072"/>
            <a:ext cx="2606041" cy="9144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25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" name="Google Shape;148;p15"/>
          <p:cNvSpPr txBox="1"/>
          <p:nvPr/>
        </p:nvSpPr>
        <p:spPr>
          <a:xfrm>
            <a:off x="3286192" y="3172472"/>
            <a:ext cx="2580701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Benchmark Data</a:t>
            </a:r>
          </a:p>
        </p:txBody>
      </p:sp>
      <p:sp>
        <p:nvSpPr>
          <p:cNvPr id="176" name="Google Shape;149;p15"/>
          <p:cNvSpPr/>
          <p:nvPr/>
        </p:nvSpPr>
        <p:spPr>
          <a:xfrm>
            <a:off x="6044184" y="2862072"/>
            <a:ext cx="2606041" cy="9144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25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7" name="Google Shape;150;p15"/>
          <p:cNvSpPr txBox="1"/>
          <p:nvPr/>
        </p:nvSpPr>
        <p:spPr>
          <a:xfrm>
            <a:off x="6056908" y="3174917"/>
            <a:ext cx="2580701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Holdings Data</a:t>
            </a:r>
          </a:p>
        </p:txBody>
      </p:sp>
      <p:sp>
        <p:nvSpPr>
          <p:cNvPr id="178" name="Google Shape;151;p15"/>
          <p:cNvSpPr/>
          <p:nvPr/>
        </p:nvSpPr>
        <p:spPr>
          <a:xfrm>
            <a:off x="502919" y="4160520"/>
            <a:ext cx="2606041" cy="15544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9" name="Google Shape;152;p15"/>
          <p:cNvSpPr txBox="1"/>
          <p:nvPr/>
        </p:nvSpPr>
        <p:spPr>
          <a:xfrm>
            <a:off x="509523" y="4540322"/>
            <a:ext cx="2580702" cy="43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32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40</a:t>
            </a:r>
          </a:p>
        </p:txBody>
      </p:sp>
      <p:sp>
        <p:nvSpPr>
          <p:cNvPr id="180" name="Google Shape;153;p15"/>
          <p:cNvSpPr txBox="1"/>
          <p:nvPr/>
        </p:nvSpPr>
        <p:spPr>
          <a:xfrm>
            <a:off x="515619" y="5148071"/>
            <a:ext cx="2580701" cy="182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Funds analyzed</a:t>
            </a:r>
          </a:p>
        </p:txBody>
      </p:sp>
      <p:sp>
        <p:nvSpPr>
          <p:cNvPr id="181" name="Google Shape;154;p15"/>
          <p:cNvSpPr txBox="1"/>
          <p:nvPr/>
        </p:nvSpPr>
        <p:spPr>
          <a:xfrm>
            <a:off x="515619" y="5385815"/>
            <a:ext cx="258070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10 fund houses</a:t>
            </a:r>
          </a:p>
        </p:txBody>
      </p:sp>
      <p:sp>
        <p:nvSpPr>
          <p:cNvPr id="182" name="Google Shape;155;p15"/>
          <p:cNvSpPr/>
          <p:nvPr/>
        </p:nvSpPr>
        <p:spPr>
          <a:xfrm>
            <a:off x="3273552" y="4160520"/>
            <a:ext cx="2606041" cy="15544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" name="Google Shape;156;p15"/>
          <p:cNvSpPr txBox="1"/>
          <p:nvPr/>
        </p:nvSpPr>
        <p:spPr>
          <a:xfrm>
            <a:off x="3286226" y="4540322"/>
            <a:ext cx="2580701" cy="43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32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32,778</a:t>
            </a:r>
          </a:p>
        </p:txBody>
      </p:sp>
      <p:sp>
        <p:nvSpPr>
          <p:cNvPr id="184" name="Google Shape;157;p15"/>
          <p:cNvSpPr txBox="1"/>
          <p:nvPr/>
        </p:nvSpPr>
        <p:spPr>
          <a:xfrm>
            <a:off x="3286252" y="5148071"/>
            <a:ext cx="2580701" cy="182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Investor records</a:t>
            </a:r>
          </a:p>
        </p:txBody>
      </p:sp>
      <p:sp>
        <p:nvSpPr>
          <p:cNvPr id="185" name="Google Shape;158;p15"/>
          <p:cNvSpPr txBox="1"/>
          <p:nvPr/>
        </p:nvSpPr>
        <p:spPr>
          <a:xfrm>
            <a:off x="3286252" y="5385815"/>
            <a:ext cx="258070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transactions</a:t>
            </a:r>
          </a:p>
        </p:txBody>
      </p:sp>
      <p:sp>
        <p:nvSpPr>
          <p:cNvPr id="186" name="Google Shape;159;p15"/>
          <p:cNvSpPr/>
          <p:nvPr/>
        </p:nvSpPr>
        <p:spPr>
          <a:xfrm>
            <a:off x="6044184" y="4160520"/>
            <a:ext cx="2606041" cy="15544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7" name="Google Shape;160;p15"/>
          <p:cNvSpPr txBox="1"/>
          <p:nvPr/>
        </p:nvSpPr>
        <p:spPr>
          <a:xfrm>
            <a:off x="6056858" y="4540322"/>
            <a:ext cx="2580701" cy="43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32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64,320</a:t>
            </a:r>
          </a:p>
        </p:txBody>
      </p:sp>
      <p:sp>
        <p:nvSpPr>
          <p:cNvPr id="188" name="Google Shape;161;p15"/>
          <p:cNvSpPr txBox="1"/>
          <p:nvPr/>
        </p:nvSpPr>
        <p:spPr>
          <a:xfrm>
            <a:off x="6056884" y="5148071"/>
            <a:ext cx="2580701" cy="182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Daily NAV records</a:t>
            </a:r>
          </a:p>
        </p:txBody>
      </p:sp>
      <p:sp>
        <p:nvSpPr>
          <p:cNvPr id="189" name="Google Shape;162;p15"/>
          <p:cNvSpPr txBox="1"/>
          <p:nvPr/>
        </p:nvSpPr>
        <p:spPr>
          <a:xfrm>
            <a:off x="6056884" y="5385815"/>
            <a:ext cx="258070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after cleaning</a:t>
            </a:r>
          </a:p>
        </p:txBody>
      </p:sp>
      <p:sp>
        <p:nvSpPr>
          <p:cNvPr id="190" name="Google Shape;163;p15"/>
          <p:cNvSpPr/>
          <p:nvPr/>
        </p:nvSpPr>
        <p:spPr>
          <a:xfrm>
            <a:off x="8814816" y="4160520"/>
            <a:ext cx="2880361" cy="15544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1" name="Google Shape;164;p15"/>
          <p:cNvSpPr txBox="1"/>
          <p:nvPr/>
        </p:nvSpPr>
        <p:spPr>
          <a:xfrm>
            <a:off x="8740691" y="4540322"/>
            <a:ext cx="2854901" cy="43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32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2022–2026</a:t>
            </a:r>
          </a:p>
        </p:txBody>
      </p:sp>
      <p:sp>
        <p:nvSpPr>
          <p:cNvPr id="192" name="Google Shape;165;p15"/>
          <p:cNvSpPr txBox="1"/>
          <p:nvPr/>
        </p:nvSpPr>
        <p:spPr>
          <a:xfrm>
            <a:off x="8827516" y="5148071"/>
            <a:ext cx="2854901" cy="182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2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Date coverage</a:t>
            </a:r>
          </a:p>
        </p:txBody>
      </p:sp>
      <p:sp>
        <p:nvSpPr>
          <p:cNvPr id="193" name="Google Shape;166;p15"/>
          <p:cNvSpPr txBox="1"/>
          <p:nvPr/>
        </p:nvSpPr>
        <p:spPr>
          <a:xfrm>
            <a:off x="8827516" y="5385815"/>
            <a:ext cx="285490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Jan 2022 → May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72;p16"/>
          <p:cNvSpPr txBox="1"/>
          <p:nvPr/>
        </p:nvSpPr>
        <p:spPr>
          <a:xfrm>
            <a:off x="8699499" y="182879"/>
            <a:ext cx="3266442" cy="211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b="1" sz="15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bluestock</a:t>
            </a:r>
          </a:p>
        </p:txBody>
      </p:sp>
      <p:sp>
        <p:nvSpPr>
          <p:cNvPr id="198" name="Google Shape;173;p16"/>
          <p:cNvSpPr txBox="1"/>
          <p:nvPr/>
        </p:nvSpPr>
        <p:spPr>
          <a:xfrm>
            <a:off x="8699499" y="502919"/>
            <a:ext cx="3266442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</a:t>
            </a:r>
          </a:p>
        </p:txBody>
      </p:sp>
      <p:sp>
        <p:nvSpPr>
          <p:cNvPr id="199" name="Google Shape;174;p16"/>
          <p:cNvSpPr txBox="1"/>
          <p:nvPr/>
        </p:nvSpPr>
        <p:spPr>
          <a:xfrm>
            <a:off x="515619" y="429766"/>
            <a:ext cx="6375401" cy="182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2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200" name="Google Shape;175;p16"/>
          <p:cNvSpPr txBox="1"/>
          <p:nvPr/>
        </p:nvSpPr>
        <p:spPr>
          <a:xfrm>
            <a:off x="515619" y="662939"/>
            <a:ext cx="8661401" cy="371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26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Project Architecture</a:t>
            </a:r>
          </a:p>
        </p:txBody>
      </p:sp>
      <p:sp>
        <p:nvSpPr>
          <p:cNvPr id="201" name="Google Shape;176;p16"/>
          <p:cNvSpPr/>
          <p:nvPr/>
        </p:nvSpPr>
        <p:spPr>
          <a:xfrm>
            <a:off x="502919" y="1280160"/>
            <a:ext cx="2926082" cy="41149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2" name="Google Shape;177;p16"/>
          <p:cNvSpPr/>
          <p:nvPr/>
        </p:nvSpPr>
        <p:spPr>
          <a:xfrm>
            <a:off x="502919" y="6355079"/>
            <a:ext cx="11183113" cy="18289"/>
          </a:xfrm>
          <a:prstGeom prst="rect">
            <a:avLst/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3" name="Google Shape;178;p16"/>
          <p:cNvSpPr txBox="1"/>
          <p:nvPr/>
        </p:nvSpPr>
        <p:spPr>
          <a:xfrm>
            <a:off x="515619" y="6400799"/>
            <a:ext cx="728980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 Platform · Internship Capstone</a:t>
            </a:r>
          </a:p>
        </p:txBody>
      </p:sp>
      <p:sp>
        <p:nvSpPr>
          <p:cNvPr id="204" name="Google Shape;179;p16"/>
          <p:cNvSpPr txBox="1"/>
          <p:nvPr/>
        </p:nvSpPr>
        <p:spPr>
          <a:xfrm>
            <a:off x="10619740" y="6400799"/>
            <a:ext cx="107188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 / 13</a:t>
            </a:r>
          </a:p>
        </p:txBody>
      </p:sp>
      <p:sp>
        <p:nvSpPr>
          <p:cNvPr id="205" name="Google Shape;180;p16"/>
          <p:cNvSpPr/>
          <p:nvPr/>
        </p:nvSpPr>
        <p:spPr>
          <a:xfrm>
            <a:off x="502919" y="2377439"/>
            <a:ext cx="1234441" cy="13716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" name="Google Shape;181;p16"/>
          <p:cNvSpPr txBox="1"/>
          <p:nvPr/>
        </p:nvSpPr>
        <p:spPr>
          <a:xfrm>
            <a:off x="515619" y="2982004"/>
            <a:ext cx="1209042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 sz="10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Raw Data</a:t>
            </a:r>
          </a:p>
        </p:txBody>
      </p:sp>
      <p:sp>
        <p:nvSpPr>
          <p:cNvPr id="207" name="Google Shape;182;p16"/>
          <p:cNvSpPr/>
          <p:nvPr/>
        </p:nvSpPr>
        <p:spPr>
          <a:xfrm>
            <a:off x="1746504" y="2980944"/>
            <a:ext cx="16459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" name="Google Shape;183;p16"/>
          <p:cNvSpPr/>
          <p:nvPr/>
        </p:nvSpPr>
        <p:spPr>
          <a:xfrm>
            <a:off x="1920239" y="2377439"/>
            <a:ext cx="1234441" cy="13716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" name="Google Shape;184;p16"/>
          <p:cNvSpPr txBox="1"/>
          <p:nvPr/>
        </p:nvSpPr>
        <p:spPr>
          <a:xfrm>
            <a:off x="1932939" y="2982004"/>
            <a:ext cx="120904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 sz="10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Validation</a:t>
            </a:r>
          </a:p>
        </p:txBody>
      </p:sp>
      <p:sp>
        <p:nvSpPr>
          <p:cNvPr id="210" name="Google Shape;185;p16"/>
          <p:cNvSpPr/>
          <p:nvPr/>
        </p:nvSpPr>
        <p:spPr>
          <a:xfrm>
            <a:off x="3163823" y="2980944"/>
            <a:ext cx="16459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1" name="Google Shape;186;p16"/>
          <p:cNvSpPr/>
          <p:nvPr/>
        </p:nvSpPr>
        <p:spPr>
          <a:xfrm>
            <a:off x="3337559" y="2377439"/>
            <a:ext cx="1234441" cy="13716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2" name="Google Shape;187;p16"/>
          <p:cNvSpPr txBox="1"/>
          <p:nvPr/>
        </p:nvSpPr>
        <p:spPr>
          <a:xfrm>
            <a:off x="3350259" y="2982004"/>
            <a:ext cx="120904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 sz="10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ETL</a:t>
            </a:r>
          </a:p>
        </p:txBody>
      </p:sp>
      <p:sp>
        <p:nvSpPr>
          <p:cNvPr id="213" name="Google Shape;188;p16"/>
          <p:cNvSpPr/>
          <p:nvPr/>
        </p:nvSpPr>
        <p:spPr>
          <a:xfrm>
            <a:off x="4581144" y="2980944"/>
            <a:ext cx="16459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" name="Google Shape;189;p16"/>
          <p:cNvSpPr/>
          <p:nvPr/>
        </p:nvSpPr>
        <p:spPr>
          <a:xfrm>
            <a:off x="4754879" y="2377439"/>
            <a:ext cx="1234441" cy="1371601"/>
          </a:xfrm>
          <a:prstGeom prst="roundRect">
            <a:avLst>
              <a:gd name="adj" fmla="val 10000"/>
            </a:avLst>
          </a:prstGeom>
          <a:solidFill>
            <a:srgbClr val="0E1330"/>
          </a:solidFill>
          <a:ln w="165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" name="Google Shape;190;p16"/>
          <p:cNvSpPr txBox="1"/>
          <p:nvPr/>
        </p:nvSpPr>
        <p:spPr>
          <a:xfrm>
            <a:off x="4767579" y="2899454"/>
            <a:ext cx="1209041" cy="327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SQLite</a:t>
            </a:r>
            <a:br/>
            <a:r>
              <a:t>Database</a:t>
            </a:r>
          </a:p>
        </p:txBody>
      </p:sp>
      <p:sp>
        <p:nvSpPr>
          <p:cNvPr id="216" name="Google Shape;191;p16"/>
          <p:cNvSpPr/>
          <p:nvPr/>
        </p:nvSpPr>
        <p:spPr>
          <a:xfrm>
            <a:off x="5998464" y="2980944"/>
            <a:ext cx="16459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" name="Google Shape;192;p16"/>
          <p:cNvSpPr/>
          <p:nvPr/>
        </p:nvSpPr>
        <p:spPr>
          <a:xfrm>
            <a:off x="6172200" y="2377439"/>
            <a:ext cx="1234440" cy="13716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" name="Google Shape;193;p16"/>
          <p:cNvSpPr txBox="1"/>
          <p:nvPr/>
        </p:nvSpPr>
        <p:spPr>
          <a:xfrm>
            <a:off x="6184899" y="2982004"/>
            <a:ext cx="1209042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 sz="10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EDA</a:t>
            </a:r>
          </a:p>
        </p:txBody>
      </p:sp>
      <p:sp>
        <p:nvSpPr>
          <p:cNvPr id="219" name="Google Shape;194;p16"/>
          <p:cNvSpPr/>
          <p:nvPr/>
        </p:nvSpPr>
        <p:spPr>
          <a:xfrm>
            <a:off x="7415783" y="2980944"/>
            <a:ext cx="16459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0" name="Google Shape;195;p16"/>
          <p:cNvSpPr/>
          <p:nvPr/>
        </p:nvSpPr>
        <p:spPr>
          <a:xfrm>
            <a:off x="7589519" y="2377439"/>
            <a:ext cx="1234441" cy="13716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1" name="Google Shape;196;p16"/>
          <p:cNvSpPr txBox="1"/>
          <p:nvPr/>
        </p:nvSpPr>
        <p:spPr>
          <a:xfrm>
            <a:off x="7602219" y="2899454"/>
            <a:ext cx="1209041" cy="327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/>
          <a:p>
            <a:pPr algn="ctr">
              <a:defRPr b="1" sz="10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Performance</a:t>
            </a:r>
            <a:br/>
            <a:r>
              <a:t>Analytics</a:t>
            </a:r>
          </a:p>
        </p:txBody>
      </p:sp>
      <p:sp>
        <p:nvSpPr>
          <p:cNvPr id="222" name="Google Shape;197;p16"/>
          <p:cNvSpPr/>
          <p:nvPr/>
        </p:nvSpPr>
        <p:spPr>
          <a:xfrm>
            <a:off x="8833104" y="2980944"/>
            <a:ext cx="16459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3" name="Google Shape;198;p16"/>
          <p:cNvSpPr/>
          <p:nvPr/>
        </p:nvSpPr>
        <p:spPr>
          <a:xfrm>
            <a:off x="9006840" y="2377439"/>
            <a:ext cx="1234441" cy="13716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4" name="Google Shape;199;p16"/>
          <p:cNvSpPr txBox="1"/>
          <p:nvPr/>
        </p:nvSpPr>
        <p:spPr>
          <a:xfrm>
            <a:off x="9019540" y="2899454"/>
            <a:ext cx="1209041" cy="327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/>
          <a:p>
            <a:pPr algn="ctr">
              <a:defRPr b="1" sz="10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Advanced</a:t>
            </a:r>
            <a:br/>
            <a:r>
              <a:t>Analytics</a:t>
            </a:r>
          </a:p>
        </p:txBody>
      </p:sp>
      <p:sp>
        <p:nvSpPr>
          <p:cNvPr id="225" name="Google Shape;200;p16"/>
          <p:cNvSpPr/>
          <p:nvPr/>
        </p:nvSpPr>
        <p:spPr>
          <a:xfrm>
            <a:off x="10250423" y="2980944"/>
            <a:ext cx="16459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6" name="Google Shape;201;p16"/>
          <p:cNvSpPr/>
          <p:nvPr/>
        </p:nvSpPr>
        <p:spPr>
          <a:xfrm>
            <a:off x="10424159" y="2377439"/>
            <a:ext cx="1234441" cy="1371601"/>
          </a:xfrm>
          <a:prstGeom prst="roundRect">
            <a:avLst>
              <a:gd name="adj" fmla="val 10000"/>
            </a:avLst>
          </a:prstGeom>
          <a:solidFill>
            <a:srgbClr val="6C4BF0"/>
          </a:solidFill>
          <a:ln w="165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7" name="Google Shape;202;p16"/>
          <p:cNvSpPr txBox="1"/>
          <p:nvPr/>
        </p:nvSpPr>
        <p:spPr>
          <a:xfrm>
            <a:off x="10436859" y="2899454"/>
            <a:ext cx="1209041" cy="327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Tableau</a:t>
            </a:r>
            <a:br/>
            <a:r>
              <a:t>Dashboard</a:t>
            </a:r>
          </a:p>
        </p:txBody>
      </p:sp>
      <p:sp>
        <p:nvSpPr>
          <p:cNvPr id="228" name="Google Shape;203;p16"/>
          <p:cNvSpPr/>
          <p:nvPr/>
        </p:nvSpPr>
        <p:spPr>
          <a:xfrm>
            <a:off x="502919" y="4389120"/>
            <a:ext cx="1600201" cy="6400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9" name="Google Shape;204;p16"/>
          <p:cNvSpPr txBox="1"/>
          <p:nvPr/>
        </p:nvSpPr>
        <p:spPr>
          <a:xfrm>
            <a:off x="515619" y="4613079"/>
            <a:ext cx="1574801" cy="192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 sz="1300">
                <a:solidFill>
                  <a:srgbClr val="4B2FB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230" name="Google Shape;205;p16"/>
          <p:cNvSpPr/>
          <p:nvPr/>
        </p:nvSpPr>
        <p:spPr>
          <a:xfrm>
            <a:off x="2331720" y="4389120"/>
            <a:ext cx="1600201" cy="6400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1" name="Google Shape;206;p16"/>
          <p:cNvSpPr txBox="1"/>
          <p:nvPr/>
        </p:nvSpPr>
        <p:spPr>
          <a:xfrm>
            <a:off x="2344420" y="4613079"/>
            <a:ext cx="1574801" cy="192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 sz="1300">
                <a:solidFill>
                  <a:srgbClr val="4B2FB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Pandas</a:t>
            </a:r>
          </a:p>
        </p:txBody>
      </p:sp>
      <p:sp>
        <p:nvSpPr>
          <p:cNvPr id="232" name="Google Shape;207;p16"/>
          <p:cNvSpPr/>
          <p:nvPr/>
        </p:nvSpPr>
        <p:spPr>
          <a:xfrm>
            <a:off x="4160520" y="4389120"/>
            <a:ext cx="1600201" cy="6400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3" name="Google Shape;208;p16"/>
          <p:cNvSpPr txBox="1"/>
          <p:nvPr/>
        </p:nvSpPr>
        <p:spPr>
          <a:xfrm>
            <a:off x="4173220" y="4613079"/>
            <a:ext cx="1574801" cy="192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 sz="1300">
                <a:solidFill>
                  <a:srgbClr val="4B2FB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SQLite</a:t>
            </a:r>
          </a:p>
        </p:txBody>
      </p:sp>
      <p:sp>
        <p:nvSpPr>
          <p:cNvPr id="234" name="Google Shape;209;p16"/>
          <p:cNvSpPr/>
          <p:nvPr/>
        </p:nvSpPr>
        <p:spPr>
          <a:xfrm>
            <a:off x="5989320" y="4389120"/>
            <a:ext cx="1600201" cy="6400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5" name="Google Shape;210;p16"/>
          <p:cNvSpPr txBox="1"/>
          <p:nvPr/>
        </p:nvSpPr>
        <p:spPr>
          <a:xfrm>
            <a:off x="6002020" y="4613079"/>
            <a:ext cx="1574801" cy="192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b="1" sz="1300">
                <a:solidFill>
                  <a:srgbClr val="4B2FB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Tableau</a:t>
            </a:r>
          </a:p>
        </p:txBody>
      </p:sp>
      <p:sp>
        <p:nvSpPr>
          <p:cNvPr id="236" name="Google Shape;211;p16"/>
          <p:cNvSpPr txBox="1"/>
          <p:nvPr/>
        </p:nvSpPr>
        <p:spPr>
          <a:xfrm>
            <a:off x="8059419" y="4675046"/>
            <a:ext cx="3815081" cy="15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Fail-fast · output-validated · one-command rebuild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17;p17"/>
          <p:cNvSpPr txBox="1"/>
          <p:nvPr/>
        </p:nvSpPr>
        <p:spPr>
          <a:xfrm>
            <a:off x="8699499" y="182879"/>
            <a:ext cx="3266442" cy="211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b="1" sz="15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bluestock</a:t>
            </a:r>
          </a:p>
        </p:txBody>
      </p:sp>
      <p:sp>
        <p:nvSpPr>
          <p:cNvPr id="241" name="Google Shape;218;p17"/>
          <p:cNvSpPr txBox="1"/>
          <p:nvPr/>
        </p:nvSpPr>
        <p:spPr>
          <a:xfrm>
            <a:off x="8699499" y="502919"/>
            <a:ext cx="3266442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</a:t>
            </a:r>
          </a:p>
        </p:txBody>
      </p:sp>
      <p:sp>
        <p:nvSpPr>
          <p:cNvPr id="242" name="Google Shape;219;p17"/>
          <p:cNvSpPr txBox="1"/>
          <p:nvPr/>
        </p:nvSpPr>
        <p:spPr>
          <a:xfrm>
            <a:off x="515619" y="292608"/>
            <a:ext cx="6375401" cy="16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0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WHAT THE DATA SHOWS</a:t>
            </a:r>
          </a:p>
        </p:txBody>
      </p:sp>
      <p:sp>
        <p:nvSpPr>
          <p:cNvPr id="243" name="Google Shape;220;p17"/>
          <p:cNvSpPr txBox="1"/>
          <p:nvPr/>
        </p:nvSpPr>
        <p:spPr>
          <a:xfrm>
            <a:off x="515619" y="617219"/>
            <a:ext cx="8661401" cy="371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26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EDA Highlights</a:t>
            </a:r>
          </a:p>
        </p:txBody>
      </p:sp>
      <p:sp>
        <p:nvSpPr>
          <p:cNvPr id="244" name="Google Shape;221;p17"/>
          <p:cNvSpPr/>
          <p:nvPr/>
        </p:nvSpPr>
        <p:spPr>
          <a:xfrm>
            <a:off x="502919" y="1280160"/>
            <a:ext cx="2926082" cy="41149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5" name="Google Shape;222;p17"/>
          <p:cNvSpPr/>
          <p:nvPr/>
        </p:nvSpPr>
        <p:spPr>
          <a:xfrm>
            <a:off x="502919" y="6355079"/>
            <a:ext cx="11183113" cy="18289"/>
          </a:xfrm>
          <a:prstGeom prst="rect">
            <a:avLst/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6" name="Google Shape;223;p17"/>
          <p:cNvSpPr txBox="1"/>
          <p:nvPr/>
        </p:nvSpPr>
        <p:spPr>
          <a:xfrm>
            <a:off x="515619" y="6400799"/>
            <a:ext cx="728980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 Platform · Internship Capstone</a:t>
            </a:r>
          </a:p>
        </p:txBody>
      </p:sp>
      <p:sp>
        <p:nvSpPr>
          <p:cNvPr id="247" name="Google Shape;224;p17"/>
          <p:cNvSpPr txBox="1"/>
          <p:nvPr/>
        </p:nvSpPr>
        <p:spPr>
          <a:xfrm>
            <a:off x="10619740" y="6400799"/>
            <a:ext cx="107188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5 / 13</a:t>
            </a:r>
          </a:p>
        </p:txBody>
      </p:sp>
      <p:pic>
        <p:nvPicPr>
          <p:cNvPr id="248" name="Google Shape;225;p17" descr="Google Shape;225;p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94727" y="1600200"/>
            <a:ext cx="2519903" cy="2148840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Google Shape;226;p17"/>
          <p:cNvSpPr/>
          <p:nvPr/>
        </p:nvSpPr>
        <p:spPr>
          <a:xfrm>
            <a:off x="1894727" y="1600200"/>
            <a:ext cx="2519903" cy="2148840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0" name="Google Shape;227;p17"/>
          <p:cNvSpPr txBox="1"/>
          <p:nvPr/>
        </p:nvSpPr>
        <p:spPr>
          <a:xfrm>
            <a:off x="515619" y="3776471"/>
            <a:ext cx="5278122" cy="139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Demographics — 66% male / 34% female</a:t>
            </a:r>
          </a:p>
        </p:txBody>
      </p:sp>
      <p:pic>
        <p:nvPicPr>
          <p:cNvPr id="251" name="Google Shape;228;p17" descr="Google Shape;228;p1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93063" y="1600200"/>
            <a:ext cx="3627553" cy="2148840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Google Shape;229;p17"/>
          <p:cNvSpPr/>
          <p:nvPr/>
        </p:nvSpPr>
        <p:spPr>
          <a:xfrm>
            <a:off x="7193063" y="1600200"/>
            <a:ext cx="3627552" cy="2148840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3" name="Google Shape;230;p17"/>
          <p:cNvSpPr txBox="1"/>
          <p:nvPr/>
        </p:nvSpPr>
        <p:spPr>
          <a:xfrm>
            <a:off x="6367779" y="3776471"/>
            <a:ext cx="5278121" cy="139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Transaction trends by age</a:t>
            </a:r>
          </a:p>
        </p:txBody>
      </p:sp>
      <p:pic>
        <p:nvPicPr>
          <p:cNvPr id="254" name="Google Shape;231;p17" descr="Google Shape;231;p1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154927" y="4023359"/>
            <a:ext cx="3999505" cy="2148841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Google Shape;232;p17"/>
          <p:cNvSpPr/>
          <p:nvPr/>
        </p:nvSpPr>
        <p:spPr>
          <a:xfrm>
            <a:off x="1154927" y="4023359"/>
            <a:ext cx="3999505" cy="2148841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6" name="Google Shape;233;p17"/>
          <p:cNvSpPr txBox="1"/>
          <p:nvPr/>
        </p:nvSpPr>
        <p:spPr>
          <a:xfrm>
            <a:off x="515619" y="6199632"/>
            <a:ext cx="5278122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Daily return distribution — fat tails</a:t>
            </a:r>
          </a:p>
        </p:txBody>
      </p:sp>
      <p:pic>
        <p:nvPicPr>
          <p:cNvPr id="257" name="Google Shape;234;p17" descr="Google Shape;234;p1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973875" y="4023359"/>
            <a:ext cx="4065929" cy="2148841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Google Shape;235;p17"/>
          <p:cNvSpPr/>
          <p:nvPr/>
        </p:nvSpPr>
        <p:spPr>
          <a:xfrm>
            <a:off x="6973875" y="4023359"/>
            <a:ext cx="4065929" cy="2148841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9" name="Google Shape;236;p17"/>
          <p:cNvSpPr txBox="1"/>
          <p:nvPr/>
        </p:nvSpPr>
        <p:spPr>
          <a:xfrm>
            <a:off x="6367779" y="6199632"/>
            <a:ext cx="5278121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AUM concentration &amp; growth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42;p18"/>
          <p:cNvSpPr txBox="1"/>
          <p:nvPr/>
        </p:nvSpPr>
        <p:spPr>
          <a:xfrm>
            <a:off x="8699499" y="182879"/>
            <a:ext cx="3266442" cy="211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b="1" sz="15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bluestock</a:t>
            </a:r>
          </a:p>
        </p:txBody>
      </p:sp>
      <p:sp>
        <p:nvSpPr>
          <p:cNvPr id="264" name="Google Shape;243;p18"/>
          <p:cNvSpPr txBox="1"/>
          <p:nvPr/>
        </p:nvSpPr>
        <p:spPr>
          <a:xfrm>
            <a:off x="8699499" y="502919"/>
            <a:ext cx="3266442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</a:t>
            </a:r>
          </a:p>
        </p:txBody>
      </p:sp>
      <p:sp>
        <p:nvSpPr>
          <p:cNvPr id="265" name="Google Shape;244;p18"/>
          <p:cNvSpPr txBox="1"/>
          <p:nvPr/>
        </p:nvSpPr>
        <p:spPr>
          <a:xfrm>
            <a:off x="515619" y="292608"/>
            <a:ext cx="6375401" cy="182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2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BEHAVIOUR &amp; GEOGRAPHY</a:t>
            </a:r>
          </a:p>
        </p:txBody>
      </p:sp>
      <p:sp>
        <p:nvSpPr>
          <p:cNvPr id="266" name="Google Shape;245;p18"/>
          <p:cNvSpPr txBox="1"/>
          <p:nvPr/>
        </p:nvSpPr>
        <p:spPr>
          <a:xfrm>
            <a:off x="469900" y="566927"/>
            <a:ext cx="8661400" cy="371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26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EDA Highlights (cont.)</a:t>
            </a:r>
          </a:p>
        </p:txBody>
      </p:sp>
      <p:sp>
        <p:nvSpPr>
          <p:cNvPr id="267" name="Google Shape;246;p18"/>
          <p:cNvSpPr/>
          <p:nvPr/>
        </p:nvSpPr>
        <p:spPr>
          <a:xfrm>
            <a:off x="502919" y="1280160"/>
            <a:ext cx="2926082" cy="41149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8" name="Google Shape;247;p18"/>
          <p:cNvSpPr/>
          <p:nvPr/>
        </p:nvSpPr>
        <p:spPr>
          <a:xfrm>
            <a:off x="502919" y="6355079"/>
            <a:ext cx="11183113" cy="18289"/>
          </a:xfrm>
          <a:prstGeom prst="rect">
            <a:avLst/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9" name="Google Shape;248;p18"/>
          <p:cNvSpPr txBox="1"/>
          <p:nvPr/>
        </p:nvSpPr>
        <p:spPr>
          <a:xfrm>
            <a:off x="515619" y="6400799"/>
            <a:ext cx="728980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 Platform · Internship Capstone</a:t>
            </a:r>
          </a:p>
        </p:txBody>
      </p:sp>
      <p:sp>
        <p:nvSpPr>
          <p:cNvPr id="270" name="Google Shape;249;p18"/>
          <p:cNvSpPr txBox="1"/>
          <p:nvPr/>
        </p:nvSpPr>
        <p:spPr>
          <a:xfrm>
            <a:off x="10619740" y="6400799"/>
            <a:ext cx="107188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6 / 13</a:t>
            </a:r>
          </a:p>
        </p:txBody>
      </p:sp>
      <p:pic>
        <p:nvPicPr>
          <p:cNvPr id="271" name="Google Shape;250;p18" descr="Google Shape;250;p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50888" y="1600200"/>
            <a:ext cx="3407583" cy="2148840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Google Shape;251;p18"/>
          <p:cNvSpPr/>
          <p:nvPr/>
        </p:nvSpPr>
        <p:spPr>
          <a:xfrm>
            <a:off x="1450888" y="1600200"/>
            <a:ext cx="3407583" cy="2148840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3" name="Google Shape;252;p18"/>
          <p:cNvSpPr txBox="1"/>
          <p:nvPr/>
        </p:nvSpPr>
        <p:spPr>
          <a:xfrm>
            <a:off x="515619" y="3776471"/>
            <a:ext cx="5278122" cy="139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Sector / fund-house dominance</a:t>
            </a:r>
          </a:p>
        </p:txBody>
      </p:sp>
      <p:pic>
        <p:nvPicPr>
          <p:cNvPr id="274" name="Google Shape;253;p18" descr="Google Shape;253;p1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303837" y="1600200"/>
            <a:ext cx="3406006" cy="2148840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Google Shape;254;p18"/>
          <p:cNvSpPr/>
          <p:nvPr/>
        </p:nvSpPr>
        <p:spPr>
          <a:xfrm>
            <a:off x="7303837" y="1600200"/>
            <a:ext cx="3406006" cy="2148840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6" name="Google Shape;255;p18"/>
          <p:cNvSpPr txBox="1"/>
          <p:nvPr/>
        </p:nvSpPr>
        <p:spPr>
          <a:xfrm>
            <a:off x="6367779" y="3776471"/>
            <a:ext cx="5278121" cy="139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Category inflow trends</a:t>
            </a:r>
          </a:p>
        </p:txBody>
      </p:sp>
      <p:pic>
        <p:nvPicPr>
          <p:cNvPr id="277" name="Google Shape;256;p18" descr="Google Shape;256;p1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40544" y="4023359"/>
            <a:ext cx="4628270" cy="2148841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Google Shape;257;p18"/>
          <p:cNvSpPr/>
          <p:nvPr/>
        </p:nvSpPr>
        <p:spPr>
          <a:xfrm>
            <a:off x="840544" y="4023359"/>
            <a:ext cx="4628270" cy="2148841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9" name="Google Shape;258;p18"/>
          <p:cNvSpPr txBox="1"/>
          <p:nvPr/>
        </p:nvSpPr>
        <p:spPr>
          <a:xfrm>
            <a:off x="515619" y="6199632"/>
            <a:ext cx="5278122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SIP behaviour — 60% of transactions</a:t>
            </a:r>
          </a:p>
        </p:txBody>
      </p:sp>
      <p:pic>
        <p:nvPicPr>
          <p:cNvPr id="280" name="Google Shape;259;p18" descr="Google Shape;259;p1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525733" y="4023359"/>
            <a:ext cx="2962212" cy="2148841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Google Shape;260;p18"/>
          <p:cNvSpPr/>
          <p:nvPr/>
        </p:nvSpPr>
        <p:spPr>
          <a:xfrm>
            <a:off x="7525733" y="4023359"/>
            <a:ext cx="2962212" cy="2148841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2" name="Google Shape;261;p18"/>
          <p:cNvSpPr txBox="1"/>
          <p:nvPr/>
        </p:nvSpPr>
        <p:spPr>
          <a:xfrm>
            <a:off x="6367779" y="6199632"/>
            <a:ext cx="5278121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Geographic distribution — top states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67;p19"/>
          <p:cNvSpPr txBox="1"/>
          <p:nvPr/>
        </p:nvSpPr>
        <p:spPr>
          <a:xfrm>
            <a:off x="8699499" y="182879"/>
            <a:ext cx="3266442" cy="211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b="1" sz="15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bluestock</a:t>
            </a:r>
          </a:p>
        </p:txBody>
      </p:sp>
      <p:sp>
        <p:nvSpPr>
          <p:cNvPr id="287" name="Google Shape;268;p19"/>
          <p:cNvSpPr txBox="1"/>
          <p:nvPr/>
        </p:nvSpPr>
        <p:spPr>
          <a:xfrm>
            <a:off x="8699499" y="502919"/>
            <a:ext cx="3266442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</a:t>
            </a:r>
          </a:p>
        </p:txBody>
      </p:sp>
      <p:sp>
        <p:nvSpPr>
          <p:cNvPr id="288" name="Google Shape;269;p19"/>
          <p:cNvSpPr txBox="1"/>
          <p:nvPr/>
        </p:nvSpPr>
        <p:spPr>
          <a:xfrm>
            <a:off x="515619" y="292608"/>
            <a:ext cx="6375401" cy="182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2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RISK-ADJUSTED RANKING</a:t>
            </a:r>
          </a:p>
        </p:txBody>
      </p:sp>
      <p:sp>
        <p:nvSpPr>
          <p:cNvPr id="289" name="Google Shape;270;p19"/>
          <p:cNvSpPr txBox="1"/>
          <p:nvPr/>
        </p:nvSpPr>
        <p:spPr>
          <a:xfrm>
            <a:off x="469900" y="566927"/>
            <a:ext cx="8661400" cy="371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26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Performance Metrics &amp; Analytics</a:t>
            </a:r>
          </a:p>
        </p:txBody>
      </p:sp>
      <p:sp>
        <p:nvSpPr>
          <p:cNvPr id="290" name="Google Shape;271;p19"/>
          <p:cNvSpPr/>
          <p:nvPr/>
        </p:nvSpPr>
        <p:spPr>
          <a:xfrm>
            <a:off x="502919" y="1280160"/>
            <a:ext cx="2926082" cy="41149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1" name="Google Shape;272;p19"/>
          <p:cNvSpPr/>
          <p:nvPr/>
        </p:nvSpPr>
        <p:spPr>
          <a:xfrm>
            <a:off x="502919" y="6355079"/>
            <a:ext cx="11183113" cy="18289"/>
          </a:xfrm>
          <a:prstGeom prst="rect">
            <a:avLst/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2" name="Google Shape;273;p19"/>
          <p:cNvSpPr txBox="1"/>
          <p:nvPr/>
        </p:nvSpPr>
        <p:spPr>
          <a:xfrm>
            <a:off x="515619" y="6400799"/>
            <a:ext cx="728980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 Platform · Internship Capstone</a:t>
            </a:r>
          </a:p>
        </p:txBody>
      </p:sp>
      <p:sp>
        <p:nvSpPr>
          <p:cNvPr id="293" name="Google Shape;274;p19"/>
          <p:cNvSpPr txBox="1"/>
          <p:nvPr/>
        </p:nvSpPr>
        <p:spPr>
          <a:xfrm>
            <a:off x="10619740" y="6400799"/>
            <a:ext cx="107188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7 / 13</a:t>
            </a:r>
          </a:p>
        </p:txBody>
      </p:sp>
      <p:pic>
        <p:nvPicPr>
          <p:cNvPr id="294" name="Google Shape;275;p19" descr="Google Shape;275;p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7173" y="1600200"/>
            <a:ext cx="5477894" cy="4206241"/>
          </a:xfrm>
          <a:prstGeom prst="rect">
            <a:avLst/>
          </a:prstGeom>
          <a:ln w="12700">
            <a:miter lim="400000"/>
          </a:ln>
        </p:spPr>
      </p:pic>
      <p:sp>
        <p:nvSpPr>
          <p:cNvPr id="295" name="Google Shape;276;p19"/>
          <p:cNvSpPr/>
          <p:nvPr/>
        </p:nvSpPr>
        <p:spPr>
          <a:xfrm>
            <a:off x="507172" y="1600199"/>
            <a:ext cx="5477895" cy="4206242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6" name="Google Shape;277;p19"/>
          <p:cNvSpPr txBox="1"/>
          <p:nvPr/>
        </p:nvSpPr>
        <p:spPr>
          <a:xfrm>
            <a:off x="515619" y="5806440"/>
            <a:ext cx="5461001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Composite Fund Scorecard (0–100) — Mirae Large Cap #1 (85.9)</a:t>
            </a:r>
          </a:p>
        </p:txBody>
      </p:sp>
      <p:sp>
        <p:nvSpPr>
          <p:cNvPr id="297" name="Google Shape;279;p19"/>
          <p:cNvSpPr/>
          <p:nvPr/>
        </p:nvSpPr>
        <p:spPr>
          <a:xfrm>
            <a:off x="7335866" y="1600199"/>
            <a:ext cx="3341945" cy="2103122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8" name="Google Shape;280;p19"/>
          <p:cNvSpPr txBox="1"/>
          <p:nvPr/>
        </p:nvSpPr>
        <p:spPr>
          <a:xfrm>
            <a:off x="6322059" y="3703320"/>
            <a:ext cx="5369561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Sharpe leaders</a:t>
            </a:r>
          </a:p>
        </p:txBody>
      </p:sp>
      <p:sp>
        <p:nvSpPr>
          <p:cNvPr id="299" name="Google Shape;282;p19"/>
          <p:cNvSpPr/>
          <p:nvPr/>
        </p:nvSpPr>
        <p:spPr>
          <a:xfrm>
            <a:off x="6309359" y="4177932"/>
            <a:ext cx="2606041" cy="1519656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0" name="Google Shape;283;p19"/>
          <p:cNvSpPr txBox="1"/>
          <p:nvPr/>
        </p:nvSpPr>
        <p:spPr>
          <a:xfrm>
            <a:off x="6322059" y="5806440"/>
            <a:ext cx="2580641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3-yr CAGR</a:t>
            </a:r>
          </a:p>
        </p:txBody>
      </p:sp>
      <p:pic>
        <p:nvPicPr>
          <p:cNvPr id="301" name="Google Shape;284;p19" descr="Google Shape;284;p1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98280" y="4117756"/>
            <a:ext cx="2606041" cy="1640008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Google Shape;285;p19"/>
          <p:cNvSpPr/>
          <p:nvPr/>
        </p:nvSpPr>
        <p:spPr>
          <a:xfrm>
            <a:off x="9098280" y="4117756"/>
            <a:ext cx="2606041" cy="1640007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3" name="Google Shape;286;p19"/>
          <p:cNvSpPr txBox="1"/>
          <p:nvPr/>
        </p:nvSpPr>
        <p:spPr>
          <a:xfrm>
            <a:off x="9110980" y="5806440"/>
            <a:ext cx="2580641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Max drawdown</a:t>
            </a:r>
          </a:p>
        </p:txBody>
      </p:sp>
      <p:pic>
        <p:nvPicPr>
          <p:cNvPr id="304" name="Picture 2" descr="Pictur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527113" y="709874"/>
            <a:ext cx="4776572" cy="3005947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" name="Picture 6" descr="Picture 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194409" y="4057579"/>
            <a:ext cx="2812431" cy="16400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292;p20"/>
          <p:cNvSpPr txBox="1"/>
          <p:nvPr/>
        </p:nvSpPr>
        <p:spPr>
          <a:xfrm>
            <a:off x="8699499" y="182879"/>
            <a:ext cx="3266442" cy="211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b="1" sz="15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bluestock</a:t>
            </a:r>
          </a:p>
        </p:txBody>
      </p:sp>
      <p:sp>
        <p:nvSpPr>
          <p:cNvPr id="310" name="Google Shape;293;p20"/>
          <p:cNvSpPr txBox="1"/>
          <p:nvPr/>
        </p:nvSpPr>
        <p:spPr>
          <a:xfrm>
            <a:off x="8699499" y="502919"/>
            <a:ext cx="3266442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</a:t>
            </a:r>
          </a:p>
        </p:txBody>
      </p:sp>
      <p:sp>
        <p:nvSpPr>
          <p:cNvPr id="311" name="Google Shape;294;p20"/>
          <p:cNvSpPr txBox="1"/>
          <p:nvPr/>
        </p:nvSpPr>
        <p:spPr>
          <a:xfrm>
            <a:off x="515619" y="292608"/>
            <a:ext cx="6375401" cy="16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0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BEYOND RETURNS</a:t>
            </a:r>
          </a:p>
        </p:txBody>
      </p:sp>
      <p:sp>
        <p:nvSpPr>
          <p:cNvPr id="312" name="Google Shape;295;p20"/>
          <p:cNvSpPr txBox="1"/>
          <p:nvPr/>
        </p:nvSpPr>
        <p:spPr>
          <a:xfrm>
            <a:off x="469900" y="566927"/>
            <a:ext cx="8661400" cy="371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26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Advanced Analytics &amp; Risk Analysis</a:t>
            </a:r>
          </a:p>
        </p:txBody>
      </p:sp>
      <p:sp>
        <p:nvSpPr>
          <p:cNvPr id="313" name="Google Shape;296;p20"/>
          <p:cNvSpPr/>
          <p:nvPr/>
        </p:nvSpPr>
        <p:spPr>
          <a:xfrm>
            <a:off x="502919" y="1280160"/>
            <a:ext cx="2926082" cy="41149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4" name="Google Shape;297;p20"/>
          <p:cNvSpPr/>
          <p:nvPr/>
        </p:nvSpPr>
        <p:spPr>
          <a:xfrm>
            <a:off x="502919" y="6355079"/>
            <a:ext cx="11183113" cy="18289"/>
          </a:xfrm>
          <a:prstGeom prst="rect">
            <a:avLst/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5" name="Google Shape;298;p20"/>
          <p:cNvSpPr txBox="1"/>
          <p:nvPr/>
        </p:nvSpPr>
        <p:spPr>
          <a:xfrm>
            <a:off x="515619" y="6400799"/>
            <a:ext cx="728980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 Platform · Internship Capstone</a:t>
            </a:r>
          </a:p>
        </p:txBody>
      </p:sp>
      <p:sp>
        <p:nvSpPr>
          <p:cNvPr id="316" name="Google Shape;299;p20"/>
          <p:cNvSpPr txBox="1"/>
          <p:nvPr/>
        </p:nvSpPr>
        <p:spPr>
          <a:xfrm>
            <a:off x="10619740" y="6400799"/>
            <a:ext cx="107188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8 / 13</a:t>
            </a:r>
          </a:p>
        </p:txBody>
      </p:sp>
      <p:pic>
        <p:nvPicPr>
          <p:cNvPr id="317" name="Google Shape;300;p20" descr="Google Shape;300;p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" y="1449699"/>
            <a:ext cx="3611880" cy="2436501"/>
          </a:xfrm>
          <a:prstGeom prst="rect">
            <a:avLst/>
          </a:prstGeom>
          <a:ln w="12700">
            <a:miter lim="400000"/>
          </a:ln>
        </p:spPr>
      </p:pic>
      <p:sp>
        <p:nvSpPr>
          <p:cNvPr id="318" name="Google Shape;302;p20"/>
          <p:cNvSpPr txBox="1"/>
          <p:nvPr/>
        </p:nvSpPr>
        <p:spPr>
          <a:xfrm>
            <a:off x="515619" y="3886199"/>
            <a:ext cx="3540761" cy="139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VaR / CVaR — tail risk</a:t>
            </a:r>
          </a:p>
        </p:txBody>
      </p:sp>
      <p:pic>
        <p:nvPicPr>
          <p:cNvPr id="319" name="Google Shape;303;p20" descr="Google Shape;303;p2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82056" y="1422041"/>
            <a:ext cx="4368143" cy="2391007"/>
          </a:xfrm>
          <a:prstGeom prst="rect">
            <a:avLst/>
          </a:prstGeom>
          <a:ln w="12700">
            <a:miter lim="400000"/>
          </a:ln>
        </p:spPr>
      </p:pic>
      <p:sp>
        <p:nvSpPr>
          <p:cNvPr id="320" name="Google Shape;304;p20"/>
          <p:cNvSpPr/>
          <p:nvPr/>
        </p:nvSpPr>
        <p:spPr>
          <a:xfrm>
            <a:off x="4297679" y="1772702"/>
            <a:ext cx="3566160" cy="1895276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1" name="Google Shape;305;p20"/>
          <p:cNvSpPr txBox="1"/>
          <p:nvPr/>
        </p:nvSpPr>
        <p:spPr>
          <a:xfrm>
            <a:off x="4589271" y="3895344"/>
            <a:ext cx="3540760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Rolling Sharpe</a:t>
            </a:r>
          </a:p>
        </p:txBody>
      </p:sp>
      <p:pic>
        <p:nvPicPr>
          <p:cNvPr id="322" name="Google Shape;306;p20" descr="Google Shape;306;p2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80459" y="1143000"/>
            <a:ext cx="2470191" cy="2569465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Google Shape;308;p20"/>
          <p:cNvSpPr txBox="1"/>
          <p:nvPr/>
        </p:nvSpPr>
        <p:spPr>
          <a:xfrm>
            <a:off x="8314690" y="3836058"/>
            <a:ext cx="3586481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Sector concentration (HHI)</a:t>
            </a:r>
          </a:p>
        </p:txBody>
      </p:sp>
      <p:sp>
        <p:nvSpPr>
          <p:cNvPr id="324" name="Google Shape;309;p20"/>
          <p:cNvSpPr/>
          <p:nvPr/>
        </p:nvSpPr>
        <p:spPr>
          <a:xfrm>
            <a:off x="502919" y="4343400"/>
            <a:ext cx="2606041" cy="137160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5" name="Google Shape;310;p20"/>
          <p:cNvSpPr txBox="1"/>
          <p:nvPr/>
        </p:nvSpPr>
        <p:spPr>
          <a:xfrm>
            <a:off x="515644" y="4690878"/>
            <a:ext cx="2580701" cy="274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20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~93×</a:t>
            </a:r>
          </a:p>
        </p:txBody>
      </p:sp>
      <p:sp>
        <p:nvSpPr>
          <p:cNvPr id="326" name="Google Shape;311;p20"/>
          <p:cNvSpPr txBox="1"/>
          <p:nvPr/>
        </p:nvSpPr>
        <p:spPr>
          <a:xfrm>
            <a:off x="515620" y="5148071"/>
            <a:ext cx="2580640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0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Tail-risk spread</a:t>
            </a:r>
          </a:p>
        </p:txBody>
      </p:sp>
      <p:sp>
        <p:nvSpPr>
          <p:cNvPr id="327" name="Google Shape;312;p20"/>
          <p:cNvSpPr txBox="1"/>
          <p:nvPr/>
        </p:nvSpPr>
        <p:spPr>
          <a:xfrm>
            <a:off x="515620" y="5385815"/>
            <a:ext cx="2580640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CVaR max ÷ min</a:t>
            </a:r>
          </a:p>
        </p:txBody>
      </p:sp>
      <p:sp>
        <p:nvSpPr>
          <p:cNvPr id="328" name="Google Shape;313;p20"/>
          <p:cNvSpPr/>
          <p:nvPr/>
        </p:nvSpPr>
        <p:spPr>
          <a:xfrm>
            <a:off x="3273552" y="4343400"/>
            <a:ext cx="2606041" cy="137160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9" name="Google Shape;314;p20"/>
          <p:cNvSpPr txBox="1"/>
          <p:nvPr/>
        </p:nvSpPr>
        <p:spPr>
          <a:xfrm>
            <a:off x="3286221" y="4690878"/>
            <a:ext cx="2580701" cy="274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20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30 / 1,362</a:t>
            </a:r>
          </a:p>
        </p:txBody>
      </p:sp>
      <p:sp>
        <p:nvSpPr>
          <p:cNvPr id="330" name="Google Shape;315;p20"/>
          <p:cNvSpPr txBox="1"/>
          <p:nvPr/>
        </p:nvSpPr>
        <p:spPr>
          <a:xfrm>
            <a:off x="3286252" y="5148071"/>
            <a:ext cx="258064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0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SIP continuity</a:t>
            </a:r>
          </a:p>
        </p:txBody>
      </p:sp>
      <p:sp>
        <p:nvSpPr>
          <p:cNvPr id="331" name="Google Shape;316;p20"/>
          <p:cNvSpPr txBox="1"/>
          <p:nvPr/>
        </p:nvSpPr>
        <p:spPr>
          <a:xfrm>
            <a:off x="3286252" y="5385815"/>
            <a:ext cx="258064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healthy vs total</a:t>
            </a:r>
          </a:p>
        </p:txBody>
      </p:sp>
      <p:sp>
        <p:nvSpPr>
          <p:cNvPr id="332" name="Google Shape;317;p20"/>
          <p:cNvSpPr/>
          <p:nvPr/>
        </p:nvSpPr>
        <p:spPr>
          <a:xfrm>
            <a:off x="6044184" y="4343400"/>
            <a:ext cx="2606041" cy="137160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3" name="Google Shape;318;p20"/>
          <p:cNvSpPr txBox="1"/>
          <p:nvPr/>
        </p:nvSpPr>
        <p:spPr>
          <a:xfrm>
            <a:off x="6056798" y="4690878"/>
            <a:ext cx="2580701" cy="274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20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UTI Mid Cap</a:t>
            </a:r>
          </a:p>
        </p:txBody>
      </p:sp>
      <p:sp>
        <p:nvSpPr>
          <p:cNvPr id="334" name="Google Shape;319;p20"/>
          <p:cNvSpPr txBox="1"/>
          <p:nvPr/>
        </p:nvSpPr>
        <p:spPr>
          <a:xfrm>
            <a:off x="6056884" y="5148071"/>
            <a:ext cx="258064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0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Most diversified</a:t>
            </a:r>
          </a:p>
        </p:txBody>
      </p:sp>
      <p:sp>
        <p:nvSpPr>
          <p:cNvPr id="335" name="Google Shape;320;p20"/>
          <p:cNvSpPr txBox="1"/>
          <p:nvPr/>
        </p:nvSpPr>
        <p:spPr>
          <a:xfrm>
            <a:off x="6056884" y="5385815"/>
            <a:ext cx="258064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8.1 eff. sectors</a:t>
            </a:r>
          </a:p>
        </p:txBody>
      </p:sp>
      <p:sp>
        <p:nvSpPr>
          <p:cNvPr id="336" name="Google Shape;321;p20"/>
          <p:cNvSpPr/>
          <p:nvPr/>
        </p:nvSpPr>
        <p:spPr>
          <a:xfrm>
            <a:off x="8814816" y="4343400"/>
            <a:ext cx="2880361" cy="1371600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7" name="Google Shape;322;p20"/>
          <p:cNvSpPr txBox="1"/>
          <p:nvPr/>
        </p:nvSpPr>
        <p:spPr>
          <a:xfrm>
            <a:off x="8841989" y="4690188"/>
            <a:ext cx="2854901" cy="274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20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Axis Bluechip</a:t>
            </a:r>
          </a:p>
        </p:txBody>
      </p:sp>
      <p:sp>
        <p:nvSpPr>
          <p:cNvPr id="338" name="Google Shape;323;p20"/>
          <p:cNvSpPr txBox="1"/>
          <p:nvPr/>
        </p:nvSpPr>
        <p:spPr>
          <a:xfrm>
            <a:off x="8827516" y="5148071"/>
            <a:ext cx="285496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0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Most concentrated</a:t>
            </a:r>
          </a:p>
        </p:txBody>
      </p:sp>
      <p:sp>
        <p:nvSpPr>
          <p:cNvPr id="339" name="Google Shape;324;p20"/>
          <p:cNvSpPr txBox="1"/>
          <p:nvPr/>
        </p:nvSpPr>
        <p:spPr>
          <a:xfrm>
            <a:off x="8827516" y="5385815"/>
            <a:ext cx="285496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3.4 eff. sectors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30;p21"/>
          <p:cNvSpPr txBox="1"/>
          <p:nvPr/>
        </p:nvSpPr>
        <p:spPr>
          <a:xfrm>
            <a:off x="8699499" y="182879"/>
            <a:ext cx="3266442" cy="211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b="1" sz="15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bluestock</a:t>
            </a:r>
          </a:p>
        </p:txBody>
      </p:sp>
      <p:sp>
        <p:nvSpPr>
          <p:cNvPr id="344" name="Google Shape;331;p21"/>
          <p:cNvSpPr txBox="1"/>
          <p:nvPr/>
        </p:nvSpPr>
        <p:spPr>
          <a:xfrm>
            <a:off x="8699499" y="502919"/>
            <a:ext cx="3266442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</a:t>
            </a:r>
          </a:p>
        </p:txBody>
      </p:sp>
      <p:sp>
        <p:nvSpPr>
          <p:cNvPr id="345" name="Google Shape;332;p21"/>
          <p:cNvSpPr txBox="1"/>
          <p:nvPr/>
        </p:nvSpPr>
        <p:spPr>
          <a:xfrm>
            <a:off x="515619" y="292608"/>
            <a:ext cx="6375401" cy="16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0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SIMULATION &amp; OPTIMISATION</a:t>
            </a:r>
          </a:p>
        </p:txBody>
      </p:sp>
      <p:sp>
        <p:nvSpPr>
          <p:cNvPr id="346" name="Google Shape;333;p21"/>
          <p:cNvSpPr txBox="1"/>
          <p:nvPr/>
        </p:nvSpPr>
        <p:spPr>
          <a:xfrm>
            <a:off x="469900" y="566927"/>
            <a:ext cx="8661400" cy="371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26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Bonus Analytics — Forward-Looking</a:t>
            </a:r>
          </a:p>
        </p:txBody>
      </p:sp>
      <p:sp>
        <p:nvSpPr>
          <p:cNvPr id="347" name="Google Shape;334;p21"/>
          <p:cNvSpPr/>
          <p:nvPr/>
        </p:nvSpPr>
        <p:spPr>
          <a:xfrm>
            <a:off x="502919" y="1280160"/>
            <a:ext cx="2926082" cy="41149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8" name="Google Shape;335;p21"/>
          <p:cNvSpPr/>
          <p:nvPr/>
        </p:nvSpPr>
        <p:spPr>
          <a:xfrm>
            <a:off x="502919" y="6355079"/>
            <a:ext cx="11183113" cy="18289"/>
          </a:xfrm>
          <a:prstGeom prst="rect">
            <a:avLst/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9" name="Google Shape;336;p21"/>
          <p:cNvSpPr txBox="1"/>
          <p:nvPr/>
        </p:nvSpPr>
        <p:spPr>
          <a:xfrm>
            <a:off x="515619" y="6400799"/>
            <a:ext cx="728980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 Platform · Internship Capstone</a:t>
            </a:r>
          </a:p>
        </p:txBody>
      </p:sp>
      <p:sp>
        <p:nvSpPr>
          <p:cNvPr id="350" name="Google Shape;337;p21"/>
          <p:cNvSpPr txBox="1"/>
          <p:nvPr/>
        </p:nvSpPr>
        <p:spPr>
          <a:xfrm>
            <a:off x="10619740" y="6400799"/>
            <a:ext cx="107188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9 / 13</a:t>
            </a:r>
          </a:p>
        </p:txBody>
      </p:sp>
      <p:pic>
        <p:nvPicPr>
          <p:cNvPr id="351" name="Google Shape;338;p21" descr="Google Shape;338;p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2919" y="1751076"/>
            <a:ext cx="5440681" cy="3264409"/>
          </a:xfrm>
          <a:prstGeom prst="rect">
            <a:avLst/>
          </a:prstGeom>
          <a:ln w="12700">
            <a:miter lim="400000"/>
          </a:ln>
        </p:spPr>
      </p:pic>
      <p:sp>
        <p:nvSpPr>
          <p:cNvPr id="352" name="Google Shape;339;p21"/>
          <p:cNvSpPr/>
          <p:nvPr/>
        </p:nvSpPr>
        <p:spPr>
          <a:xfrm>
            <a:off x="502920" y="1751076"/>
            <a:ext cx="5440680" cy="3264409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3" name="Google Shape;340;p21"/>
          <p:cNvSpPr txBox="1"/>
          <p:nvPr/>
        </p:nvSpPr>
        <p:spPr>
          <a:xfrm>
            <a:off x="515620" y="5230367"/>
            <a:ext cx="5415280" cy="139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Monte Carlo — 5-yr NAV projection (1,000 paths, P5–P95 bands)</a:t>
            </a:r>
          </a:p>
        </p:txBody>
      </p:sp>
      <p:pic>
        <p:nvPicPr>
          <p:cNvPr id="354" name="Google Shape;341;p21" descr="Google Shape;341;p2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63640" y="1751076"/>
            <a:ext cx="5440681" cy="3264409"/>
          </a:xfrm>
          <a:prstGeom prst="rect">
            <a:avLst/>
          </a:prstGeom>
          <a:ln w="12700">
            <a:miter lim="400000"/>
          </a:ln>
        </p:spPr>
      </p:pic>
      <p:sp>
        <p:nvSpPr>
          <p:cNvPr id="355" name="Google Shape;342;p21"/>
          <p:cNvSpPr/>
          <p:nvPr/>
        </p:nvSpPr>
        <p:spPr>
          <a:xfrm>
            <a:off x="6263640" y="1751076"/>
            <a:ext cx="5440681" cy="3264409"/>
          </a:xfrm>
          <a:prstGeom prst="rect">
            <a:avLst/>
          </a:prstGeom>
          <a:ln>
            <a:solidFill>
              <a:srgbClr val="EEF0F7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6" name="Google Shape;343;p21"/>
          <p:cNvSpPr txBox="1"/>
          <p:nvPr/>
        </p:nvSpPr>
        <p:spPr>
          <a:xfrm>
            <a:off x="6276340" y="5230367"/>
            <a:ext cx="5415281" cy="139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Markowitz Efficient Frontier — top-5 funds</a:t>
            </a:r>
          </a:p>
        </p:txBody>
      </p:sp>
      <p:sp>
        <p:nvSpPr>
          <p:cNvPr id="357" name="Google Shape;344;p21"/>
          <p:cNvSpPr/>
          <p:nvPr/>
        </p:nvSpPr>
        <p:spPr>
          <a:xfrm>
            <a:off x="502919" y="5577840"/>
            <a:ext cx="5440681" cy="713233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8" name="Google Shape;345;p21"/>
          <p:cNvSpPr txBox="1"/>
          <p:nvPr/>
        </p:nvSpPr>
        <p:spPr>
          <a:xfrm>
            <a:off x="563714" y="5788483"/>
            <a:ext cx="5415402" cy="274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20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₹230 → ₹585 median</a:t>
            </a:r>
          </a:p>
        </p:txBody>
      </p:sp>
      <p:sp>
        <p:nvSpPr>
          <p:cNvPr id="359" name="Google Shape;346;p21"/>
          <p:cNvSpPr txBox="1"/>
          <p:nvPr/>
        </p:nvSpPr>
        <p:spPr>
          <a:xfrm>
            <a:off x="631369" y="5595418"/>
            <a:ext cx="5415402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0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Monte Carlo (Mirae Large Cap)</a:t>
            </a:r>
          </a:p>
        </p:txBody>
      </p:sp>
      <p:sp>
        <p:nvSpPr>
          <p:cNvPr id="360" name="Google Shape;347;p21"/>
          <p:cNvSpPr txBox="1"/>
          <p:nvPr/>
        </p:nvSpPr>
        <p:spPr>
          <a:xfrm>
            <a:off x="515619" y="6071613"/>
            <a:ext cx="5415402" cy="129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+20.5% median CAGR · P5 ₹391 / P95 ₹909</a:t>
            </a:r>
          </a:p>
        </p:txBody>
      </p:sp>
      <p:sp>
        <p:nvSpPr>
          <p:cNvPr id="361" name="Google Shape;348;p21"/>
          <p:cNvSpPr/>
          <p:nvPr/>
        </p:nvSpPr>
        <p:spPr>
          <a:xfrm>
            <a:off x="6263640" y="5577840"/>
            <a:ext cx="5440681" cy="713233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2" name="Google Shape;349;p21"/>
          <p:cNvSpPr txBox="1"/>
          <p:nvPr/>
        </p:nvSpPr>
        <p:spPr>
          <a:xfrm>
            <a:off x="6300392" y="5784529"/>
            <a:ext cx="5415401" cy="274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20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18.7% ret · Sharpe 3.18*</a:t>
            </a:r>
          </a:p>
        </p:txBody>
      </p:sp>
      <p:sp>
        <p:nvSpPr>
          <p:cNvPr id="363" name="Google Shape;350;p21"/>
          <p:cNvSpPr txBox="1"/>
          <p:nvPr/>
        </p:nvSpPr>
        <p:spPr>
          <a:xfrm>
            <a:off x="6324565" y="5618281"/>
            <a:ext cx="5415401" cy="1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10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Max-Sharpe portfolio</a:t>
            </a:r>
          </a:p>
        </p:txBody>
      </p:sp>
      <p:sp>
        <p:nvSpPr>
          <p:cNvPr id="364" name="Google Shape;351;p21"/>
          <p:cNvSpPr txBox="1"/>
          <p:nvPr/>
        </p:nvSpPr>
        <p:spPr>
          <a:xfrm>
            <a:off x="6276340" y="6071613"/>
            <a:ext cx="5415401" cy="129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Mirae 26% · ICICI Bluechip 22% · Kotak 21% (*synthetic)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57;p22"/>
          <p:cNvSpPr txBox="1"/>
          <p:nvPr/>
        </p:nvSpPr>
        <p:spPr>
          <a:xfrm>
            <a:off x="8699499" y="182879"/>
            <a:ext cx="3266442" cy="211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b="1" sz="15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bluestock</a:t>
            </a:r>
          </a:p>
        </p:txBody>
      </p:sp>
      <p:sp>
        <p:nvSpPr>
          <p:cNvPr id="369" name="Google Shape;358;p22"/>
          <p:cNvSpPr txBox="1"/>
          <p:nvPr/>
        </p:nvSpPr>
        <p:spPr>
          <a:xfrm>
            <a:off x="8699499" y="502919"/>
            <a:ext cx="3266442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</a:t>
            </a:r>
          </a:p>
        </p:txBody>
      </p:sp>
      <p:sp>
        <p:nvSpPr>
          <p:cNvPr id="370" name="Google Shape;359;p22"/>
          <p:cNvSpPr txBox="1"/>
          <p:nvPr/>
        </p:nvSpPr>
        <p:spPr>
          <a:xfrm>
            <a:off x="515619" y="292608"/>
            <a:ext cx="6375401" cy="16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0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EXECUTIVE VIEW (1 OF 2)</a:t>
            </a:r>
          </a:p>
        </p:txBody>
      </p:sp>
      <p:sp>
        <p:nvSpPr>
          <p:cNvPr id="371" name="Google Shape;360;p22"/>
          <p:cNvSpPr txBox="1"/>
          <p:nvPr/>
        </p:nvSpPr>
        <p:spPr>
          <a:xfrm>
            <a:off x="469900" y="566927"/>
            <a:ext cx="8661400" cy="371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26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Dashboard Overview</a:t>
            </a:r>
          </a:p>
        </p:txBody>
      </p:sp>
      <p:sp>
        <p:nvSpPr>
          <p:cNvPr id="372" name="Google Shape;361;p22"/>
          <p:cNvSpPr/>
          <p:nvPr/>
        </p:nvSpPr>
        <p:spPr>
          <a:xfrm>
            <a:off x="502919" y="1280160"/>
            <a:ext cx="2926082" cy="41149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3" name="Google Shape;362;p22"/>
          <p:cNvSpPr/>
          <p:nvPr/>
        </p:nvSpPr>
        <p:spPr>
          <a:xfrm>
            <a:off x="502919" y="6355079"/>
            <a:ext cx="11183113" cy="18289"/>
          </a:xfrm>
          <a:prstGeom prst="rect">
            <a:avLst/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4" name="Google Shape;363;p22"/>
          <p:cNvSpPr txBox="1"/>
          <p:nvPr/>
        </p:nvSpPr>
        <p:spPr>
          <a:xfrm>
            <a:off x="515619" y="6400799"/>
            <a:ext cx="728980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 Platform · Internship Capstone</a:t>
            </a:r>
          </a:p>
        </p:txBody>
      </p:sp>
      <p:sp>
        <p:nvSpPr>
          <p:cNvPr id="375" name="Google Shape;364;p22"/>
          <p:cNvSpPr txBox="1"/>
          <p:nvPr/>
        </p:nvSpPr>
        <p:spPr>
          <a:xfrm>
            <a:off x="10619740" y="6400799"/>
            <a:ext cx="107188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10 / 13</a:t>
            </a:r>
          </a:p>
        </p:txBody>
      </p:sp>
      <p:pic>
        <p:nvPicPr>
          <p:cNvPr id="376" name="Google Shape;365;p22" descr="Google Shape;365;p2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6241" y="1845182"/>
            <a:ext cx="5615939" cy="3387092"/>
          </a:xfrm>
          <a:prstGeom prst="rect">
            <a:avLst/>
          </a:prstGeom>
          <a:ln w="12700">
            <a:miter lim="400000"/>
          </a:ln>
        </p:spPr>
      </p:pic>
      <p:sp>
        <p:nvSpPr>
          <p:cNvPr id="377" name="Google Shape;367;p22"/>
          <p:cNvSpPr txBox="1"/>
          <p:nvPr/>
        </p:nvSpPr>
        <p:spPr>
          <a:xfrm>
            <a:off x="408941" y="5383148"/>
            <a:ext cx="5415280" cy="139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Page 1 — Industry Overview: KPIs · AUM trends · fund houses</a:t>
            </a:r>
          </a:p>
        </p:txBody>
      </p:sp>
      <p:pic>
        <p:nvPicPr>
          <p:cNvPr id="378" name="Google Shape;368;p22" descr="Google Shape;368;p2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176011" y="1854326"/>
            <a:ext cx="5615939" cy="3454281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Google Shape;370;p22"/>
          <p:cNvSpPr txBox="1"/>
          <p:nvPr/>
        </p:nvSpPr>
        <p:spPr>
          <a:xfrm>
            <a:off x="6276340" y="5397503"/>
            <a:ext cx="5415281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Page 2 — Fund Performance: scorecards · comparison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76;p23"/>
          <p:cNvSpPr txBox="1"/>
          <p:nvPr/>
        </p:nvSpPr>
        <p:spPr>
          <a:xfrm>
            <a:off x="8699499" y="182879"/>
            <a:ext cx="3266442" cy="211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b="1" sz="15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bluestock</a:t>
            </a:r>
          </a:p>
        </p:txBody>
      </p:sp>
      <p:sp>
        <p:nvSpPr>
          <p:cNvPr id="384" name="Google Shape;377;p23"/>
          <p:cNvSpPr txBox="1"/>
          <p:nvPr/>
        </p:nvSpPr>
        <p:spPr>
          <a:xfrm>
            <a:off x="8699499" y="502919"/>
            <a:ext cx="3266442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</a:t>
            </a:r>
          </a:p>
        </p:txBody>
      </p:sp>
      <p:sp>
        <p:nvSpPr>
          <p:cNvPr id="385" name="Google Shape;378;p23"/>
          <p:cNvSpPr txBox="1"/>
          <p:nvPr/>
        </p:nvSpPr>
        <p:spPr>
          <a:xfrm>
            <a:off x="515619" y="292608"/>
            <a:ext cx="6375401" cy="16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0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EXECUTIVE VIEW (2 OF 2)</a:t>
            </a:r>
          </a:p>
        </p:txBody>
      </p:sp>
      <p:sp>
        <p:nvSpPr>
          <p:cNvPr id="386" name="Google Shape;379;p23"/>
          <p:cNvSpPr txBox="1"/>
          <p:nvPr/>
        </p:nvSpPr>
        <p:spPr>
          <a:xfrm>
            <a:off x="469900" y="566927"/>
            <a:ext cx="8661400" cy="371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26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Dashboard Overview</a:t>
            </a:r>
          </a:p>
        </p:txBody>
      </p:sp>
      <p:sp>
        <p:nvSpPr>
          <p:cNvPr id="387" name="Google Shape;380;p23"/>
          <p:cNvSpPr/>
          <p:nvPr/>
        </p:nvSpPr>
        <p:spPr>
          <a:xfrm>
            <a:off x="502919" y="1280160"/>
            <a:ext cx="2926082" cy="41149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8" name="Google Shape;381;p23"/>
          <p:cNvSpPr/>
          <p:nvPr/>
        </p:nvSpPr>
        <p:spPr>
          <a:xfrm>
            <a:off x="502919" y="6355079"/>
            <a:ext cx="11183113" cy="18289"/>
          </a:xfrm>
          <a:prstGeom prst="rect">
            <a:avLst/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9" name="Google Shape;382;p23"/>
          <p:cNvSpPr txBox="1"/>
          <p:nvPr/>
        </p:nvSpPr>
        <p:spPr>
          <a:xfrm>
            <a:off x="515619" y="6400799"/>
            <a:ext cx="728980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 Platform · Internship Capstone</a:t>
            </a:r>
          </a:p>
        </p:txBody>
      </p:sp>
      <p:sp>
        <p:nvSpPr>
          <p:cNvPr id="390" name="Google Shape;383;p23"/>
          <p:cNvSpPr txBox="1"/>
          <p:nvPr/>
        </p:nvSpPr>
        <p:spPr>
          <a:xfrm>
            <a:off x="10619740" y="6400799"/>
            <a:ext cx="1071881" cy="129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11 / 13</a:t>
            </a:r>
          </a:p>
        </p:txBody>
      </p:sp>
      <p:pic>
        <p:nvPicPr>
          <p:cNvPr id="391" name="Google Shape;384;p23" descr="Google Shape;384;p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2919" y="1908276"/>
            <a:ext cx="5440681" cy="3116352"/>
          </a:xfrm>
          <a:prstGeom prst="rect">
            <a:avLst/>
          </a:prstGeom>
          <a:ln w="12700">
            <a:miter lim="400000"/>
          </a:ln>
        </p:spPr>
      </p:pic>
      <p:sp>
        <p:nvSpPr>
          <p:cNvPr id="392" name="Google Shape;386;p23"/>
          <p:cNvSpPr txBox="1"/>
          <p:nvPr/>
        </p:nvSpPr>
        <p:spPr>
          <a:xfrm>
            <a:off x="515620" y="5278373"/>
            <a:ext cx="5415280" cy="139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Page 3 — Investor Analytics: behaviour · demographics</a:t>
            </a:r>
          </a:p>
        </p:txBody>
      </p:sp>
      <p:pic>
        <p:nvPicPr>
          <p:cNvPr id="393" name="Google Shape;387;p23" descr="Google Shape;387;p2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45352" y="1908276"/>
            <a:ext cx="5440681" cy="3116352"/>
          </a:xfrm>
          <a:prstGeom prst="rect">
            <a:avLst/>
          </a:prstGeom>
          <a:ln w="12700">
            <a:miter lim="400000"/>
          </a:ln>
        </p:spPr>
      </p:pic>
      <p:sp>
        <p:nvSpPr>
          <p:cNvPr id="394" name="Google Shape;389;p23"/>
          <p:cNvSpPr txBox="1"/>
          <p:nvPr/>
        </p:nvSpPr>
        <p:spPr>
          <a:xfrm>
            <a:off x="6258052" y="5301234"/>
            <a:ext cx="5415281" cy="139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sz="9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Page 4 — SIP &amp; Market Trends: SIP growth · categories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5;p24"/>
          <p:cNvSpPr txBox="1"/>
          <p:nvPr/>
        </p:nvSpPr>
        <p:spPr>
          <a:xfrm>
            <a:off x="8699499" y="182879"/>
            <a:ext cx="3266501" cy="26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b="1" sz="18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bluestock</a:t>
            </a:r>
          </a:p>
        </p:txBody>
      </p:sp>
      <p:sp>
        <p:nvSpPr>
          <p:cNvPr id="399" name="Google Shape;396;p24"/>
          <p:cNvSpPr txBox="1"/>
          <p:nvPr/>
        </p:nvSpPr>
        <p:spPr>
          <a:xfrm>
            <a:off x="8699499" y="502919"/>
            <a:ext cx="3266501" cy="15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</a:t>
            </a:r>
          </a:p>
        </p:txBody>
      </p:sp>
      <p:sp>
        <p:nvSpPr>
          <p:cNvPr id="400" name="Google Shape;397;p24"/>
          <p:cNvSpPr txBox="1"/>
          <p:nvPr/>
        </p:nvSpPr>
        <p:spPr>
          <a:xfrm>
            <a:off x="515619" y="292608"/>
            <a:ext cx="6375401" cy="192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1300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SO WHAT</a:t>
            </a:r>
          </a:p>
        </p:txBody>
      </p:sp>
      <p:sp>
        <p:nvSpPr>
          <p:cNvPr id="401" name="Google Shape;398;p24"/>
          <p:cNvSpPr txBox="1"/>
          <p:nvPr/>
        </p:nvSpPr>
        <p:spPr>
          <a:xfrm>
            <a:off x="469900" y="566927"/>
            <a:ext cx="8661400" cy="388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2900">
                <a:solidFill>
                  <a:srgbClr val="0E133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Key Findings &amp; Business Impact</a:t>
            </a:r>
          </a:p>
        </p:txBody>
      </p:sp>
      <p:sp>
        <p:nvSpPr>
          <p:cNvPr id="402" name="Google Shape;399;p24"/>
          <p:cNvSpPr/>
          <p:nvPr/>
        </p:nvSpPr>
        <p:spPr>
          <a:xfrm>
            <a:off x="502919" y="1280160"/>
            <a:ext cx="2926082" cy="41149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1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3" name="Google Shape;400;p24"/>
          <p:cNvSpPr/>
          <p:nvPr/>
        </p:nvSpPr>
        <p:spPr>
          <a:xfrm>
            <a:off x="502919" y="6355079"/>
            <a:ext cx="11183113" cy="18289"/>
          </a:xfrm>
          <a:prstGeom prst="rect">
            <a:avLst/>
          </a:prstGeom>
          <a:solidFill>
            <a:srgbClr val="EEF0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1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4" name="Google Shape;401;p24"/>
          <p:cNvSpPr txBox="1"/>
          <p:nvPr/>
        </p:nvSpPr>
        <p:spPr>
          <a:xfrm>
            <a:off x="515619" y="6400799"/>
            <a:ext cx="7289801" cy="15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Mutual Fund Analytics Platform · Internship Capstone</a:t>
            </a:r>
          </a:p>
        </p:txBody>
      </p:sp>
      <p:sp>
        <p:nvSpPr>
          <p:cNvPr id="405" name="Google Shape;402;p24"/>
          <p:cNvSpPr txBox="1"/>
          <p:nvPr/>
        </p:nvSpPr>
        <p:spPr>
          <a:xfrm>
            <a:off x="10619740" y="6400799"/>
            <a:ext cx="1072001" cy="15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r"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12 / 13</a:t>
            </a:r>
          </a:p>
        </p:txBody>
      </p:sp>
      <p:sp>
        <p:nvSpPr>
          <p:cNvPr id="406" name="Google Shape;403;p24"/>
          <p:cNvSpPr/>
          <p:nvPr/>
        </p:nvSpPr>
        <p:spPr>
          <a:xfrm>
            <a:off x="502919" y="1783079"/>
            <a:ext cx="3611881" cy="17830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1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7" name="Google Shape;404;p24"/>
          <p:cNvSpPr txBox="1"/>
          <p:nvPr/>
        </p:nvSpPr>
        <p:spPr>
          <a:xfrm>
            <a:off x="515619" y="1947672"/>
            <a:ext cx="3586602" cy="211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1500">
                <a:solidFill>
                  <a:srgbClr val="4B2FB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PERFORMANCE</a:t>
            </a:r>
          </a:p>
        </p:txBody>
      </p:sp>
      <p:sp>
        <p:nvSpPr>
          <p:cNvPr id="408" name="Google Shape;405;p24"/>
          <p:cNvSpPr txBox="1"/>
          <p:nvPr/>
        </p:nvSpPr>
        <p:spPr>
          <a:xfrm>
            <a:off x="698499" y="2446632"/>
            <a:ext cx="3220602" cy="440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sz="15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Mirae Large Cap is the strongest risk-adjusted performer (85.9/100).</a:t>
            </a:r>
          </a:p>
        </p:txBody>
      </p:sp>
      <p:sp>
        <p:nvSpPr>
          <p:cNvPr id="409" name="Google Shape;406;p24"/>
          <p:cNvSpPr/>
          <p:nvPr/>
        </p:nvSpPr>
        <p:spPr>
          <a:xfrm>
            <a:off x="4297679" y="1783079"/>
            <a:ext cx="3611881" cy="17830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1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0" name="Google Shape;407;p24"/>
          <p:cNvSpPr txBox="1"/>
          <p:nvPr/>
        </p:nvSpPr>
        <p:spPr>
          <a:xfrm>
            <a:off x="4310379" y="1947672"/>
            <a:ext cx="3586601" cy="211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1500">
                <a:solidFill>
                  <a:srgbClr val="4B2FB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RISK</a:t>
            </a:r>
          </a:p>
        </p:txBody>
      </p:sp>
      <p:sp>
        <p:nvSpPr>
          <p:cNvPr id="411" name="Google Shape;408;p24"/>
          <p:cNvSpPr txBox="1"/>
          <p:nvPr/>
        </p:nvSpPr>
        <p:spPr>
          <a:xfrm>
            <a:off x="4493259" y="2446632"/>
            <a:ext cx="3220601" cy="440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sz="15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Equity funds carry far higher tail risk — ~93× spread, safest to riskiest.</a:t>
            </a:r>
          </a:p>
        </p:txBody>
      </p:sp>
      <p:sp>
        <p:nvSpPr>
          <p:cNvPr id="412" name="Google Shape;409;p24"/>
          <p:cNvSpPr/>
          <p:nvPr/>
        </p:nvSpPr>
        <p:spPr>
          <a:xfrm>
            <a:off x="8092440" y="1783079"/>
            <a:ext cx="3611881" cy="17830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1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3" name="Google Shape;410;p24"/>
          <p:cNvSpPr txBox="1"/>
          <p:nvPr/>
        </p:nvSpPr>
        <p:spPr>
          <a:xfrm>
            <a:off x="8105140" y="1947672"/>
            <a:ext cx="3586601" cy="211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1500">
                <a:solidFill>
                  <a:srgbClr val="4B2FB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INVESTOR BEHAVIOUR</a:t>
            </a:r>
          </a:p>
        </p:txBody>
      </p:sp>
      <p:sp>
        <p:nvSpPr>
          <p:cNvPr id="414" name="Google Shape;411;p24"/>
          <p:cNvSpPr txBox="1"/>
          <p:nvPr/>
        </p:nvSpPr>
        <p:spPr>
          <a:xfrm>
            <a:off x="8288019" y="2446632"/>
            <a:ext cx="3220601" cy="440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sz="15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SIP continuity challenge — only 30 of 1,362 investors 'healthy'.</a:t>
            </a:r>
          </a:p>
        </p:txBody>
      </p:sp>
      <p:sp>
        <p:nvSpPr>
          <p:cNvPr id="415" name="Google Shape;412;p24"/>
          <p:cNvSpPr/>
          <p:nvPr/>
        </p:nvSpPr>
        <p:spPr>
          <a:xfrm>
            <a:off x="502919" y="3794759"/>
            <a:ext cx="3611881" cy="17830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1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6" name="Google Shape;413;p24"/>
          <p:cNvSpPr txBox="1"/>
          <p:nvPr/>
        </p:nvSpPr>
        <p:spPr>
          <a:xfrm>
            <a:off x="515619" y="3959352"/>
            <a:ext cx="3586602" cy="211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1500">
                <a:solidFill>
                  <a:srgbClr val="4B2FB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FORWARD-LOOKING</a:t>
            </a:r>
          </a:p>
        </p:txBody>
      </p:sp>
      <p:sp>
        <p:nvSpPr>
          <p:cNvPr id="417" name="Google Shape;414;p24"/>
          <p:cNvSpPr txBox="1"/>
          <p:nvPr/>
        </p:nvSpPr>
        <p:spPr>
          <a:xfrm>
            <a:off x="698499" y="4458312"/>
            <a:ext cx="3220602" cy="440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sz="15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Monte Carlo + efficient frontier add projection &amp; optimisation.</a:t>
            </a:r>
          </a:p>
        </p:txBody>
      </p:sp>
      <p:sp>
        <p:nvSpPr>
          <p:cNvPr id="418" name="Google Shape;415;p24"/>
          <p:cNvSpPr/>
          <p:nvPr/>
        </p:nvSpPr>
        <p:spPr>
          <a:xfrm>
            <a:off x="4297679" y="3794759"/>
            <a:ext cx="3611881" cy="17830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1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Google Shape;416;p24"/>
          <p:cNvSpPr txBox="1"/>
          <p:nvPr/>
        </p:nvSpPr>
        <p:spPr>
          <a:xfrm>
            <a:off x="4310379" y="3959352"/>
            <a:ext cx="3586601" cy="211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1500">
                <a:solidFill>
                  <a:srgbClr val="4B2FB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RECOMMENDATIONS</a:t>
            </a:r>
          </a:p>
        </p:txBody>
      </p:sp>
      <p:sp>
        <p:nvSpPr>
          <p:cNvPr id="420" name="Google Shape;417;p24"/>
          <p:cNvSpPr txBox="1"/>
          <p:nvPr/>
        </p:nvSpPr>
        <p:spPr>
          <a:xfrm>
            <a:off x="4493259" y="4458312"/>
            <a:ext cx="3220601" cy="440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sz="15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Risk-profile engine implemented (Low / Moderate / High).</a:t>
            </a:r>
          </a:p>
        </p:txBody>
      </p:sp>
      <p:sp>
        <p:nvSpPr>
          <p:cNvPr id="421" name="Google Shape;418;p24"/>
          <p:cNvSpPr/>
          <p:nvPr/>
        </p:nvSpPr>
        <p:spPr>
          <a:xfrm>
            <a:off x="8092440" y="3794759"/>
            <a:ext cx="3611881" cy="1783081"/>
          </a:xfrm>
          <a:prstGeom prst="roundRect">
            <a:avLst>
              <a:gd name="adj" fmla="val 10000"/>
            </a:avLst>
          </a:prstGeom>
          <a:solidFill>
            <a:srgbClr val="EEF0F7"/>
          </a:solidFill>
          <a:ln w="12700">
            <a:solidFill>
              <a:srgbClr val="6C4BF0"/>
            </a:solidFill>
          </a:ln>
        </p:spPr>
        <p:txBody>
          <a:bodyPr lIns="45719" rIns="45719" anchor="ctr"/>
          <a:lstStyle/>
          <a:p>
            <a:pPr algn="ctr">
              <a:defRPr sz="21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2" name="Google Shape;419;p24"/>
          <p:cNvSpPr txBox="1"/>
          <p:nvPr/>
        </p:nvSpPr>
        <p:spPr>
          <a:xfrm>
            <a:off x="8105140" y="3959352"/>
            <a:ext cx="3586601" cy="211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 algn="ctr">
              <a:defRPr b="1" sz="1500">
                <a:solidFill>
                  <a:srgbClr val="4B2FB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DASHBOARD</a:t>
            </a:r>
          </a:p>
        </p:txBody>
      </p:sp>
      <p:sp>
        <p:nvSpPr>
          <p:cNvPr id="423" name="Google Shape;420;p24"/>
          <p:cNvSpPr txBox="1"/>
          <p:nvPr/>
        </p:nvSpPr>
        <p:spPr>
          <a:xfrm>
            <a:off x="8288019" y="4458312"/>
            <a:ext cx="3220601" cy="440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 algn="ctr">
              <a:defRPr sz="1500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 single source of truth for decision-making across teams.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6;p25"/>
          <p:cNvSpPr/>
          <p:nvPr/>
        </p:nvSpPr>
        <p:spPr>
          <a:xfrm>
            <a:off x="-1" y="0"/>
            <a:ext cx="146306" cy="6858000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8" name="Google Shape;427;p25"/>
          <p:cNvSpPr txBox="1"/>
          <p:nvPr/>
        </p:nvSpPr>
        <p:spPr>
          <a:xfrm>
            <a:off x="927100" y="822960"/>
            <a:ext cx="7289800" cy="423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429" name="Google Shape;428;p25"/>
          <p:cNvSpPr/>
          <p:nvPr/>
        </p:nvSpPr>
        <p:spPr>
          <a:xfrm>
            <a:off x="932688" y="1600199"/>
            <a:ext cx="2377441" cy="41150"/>
          </a:xfrm>
          <a:prstGeom prst="rect">
            <a:avLst/>
          </a:prstGeom>
          <a:solidFill>
            <a:srgbClr val="6C4B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0" name="Google Shape;429;p25"/>
          <p:cNvSpPr txBox="1"/>
          <p:nvPr/>
        </p:nvSpPr>
        <p:spPr>
          <a:xfrm>
            <a:off x="1018539" y="1874518"/>
            <a:ext cx="340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431" name="Google Shape;430;p25"/>
          <p:cNvSpPr txBox="1"/>
          <p:nvPr/>
        </p:nvSpPr>
        <p:spPr>
          <a:xfrm>
            <a:off x="1384300" y="1874518"/>
            <a:ext cx="5643880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ETL Pipeline</a:t>
            </a:r>
          </a:p>
        </p:txBody>
      </p:sp>
      <p:sp>
        <p:nvSpPr>
          <p:cNvPr id="432" name="Google Shape;431;p25"/>
          <p:cNvSpPr txBox="1"/>
          <p:nvPr/>
        </p:nvSpPr>
        <p:spPr>
          <a:xfrm>
            <a:off x="1018539" y="2331720"/>
            <a:ext cx="340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433" name="Google Shape;432;p25"/>
          <p:cNvSpPr txBox="1"/>
          <p:nvPr/>
        </p:nvSpPr>
        <p:spPr>
          <a:xfrm>
            <a:off x="1384300" y="2331720"/>
            <a:ext cx="5643880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SQLite Database</a:t>
            </a:r>
          </a:p>
        </p:txBody>
      </p:sp>
      <p:sp>
        <p:nvSpPr>
          <p:cNvPr id="434" name="Google Shape;433;p25"/>
          <p:cNvSpPr txBox="1"/>
          <p:nvPr/>
        </p:nvSpPr>
        <p:spPr>
          <a:xfrm>
            <a:off x="1018539" y="2788920"/>
            <a:ext cx="340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435" name="Google Shape;434;p25"/>
          <p:cNvSpPr txBox="1"/>
          <p:nvPr/>
        </p:nvSpPr>
        <p:spPr>
          <a:xfrm>
            <a:off x="1384300" y="2788920"/>
            <a:ext cx="5643880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EDA</a:t>
            </a:r>
          </a:p>
        </p:txBody>
      </p:sp>
      <p:sp>
        <p:nvSpPr>
          <p:cNvPr id="436" name="Google Shape;435;p25"/>
          <p:cNvSpPr txBox="1"/>
          <p:nvPr/>
        </p:nvSpPr>
        <p:spPr>
          <a:xfrm>
            <a:off x="1018539" y="3246120"/>
            <a:ext cx="340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437" name="Google Shape;436;p25"/>
          <p:cNvSpPr txBox="1"/>
          <p:nvPr/>
        </p:nvSpPr>
        <p:spPr>
          <a:xfrm>
            <a:off x="1384300" y="3246120"/>
            <a:ext cx="5643880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Performance Analytics</a:t>
            </a:r>
          </a:p>
        </p:txBody>
      </p:sp>
      <p:sp>
        <p:nvSpPr>
          <p:cNvPr id="438" name="Google Shape;437;p25"/>
          <p:cNvSpPr txBox="1"/>
          <p:nvPr/>
        </p:nvSpPr>
        <p:spPr>
          <a:xfrm>
            <a:off x="1018539" y="3703320"/>
            <a:ext cx="340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439" name="Google Shape;438;p25"/>
          <p:cNvSpPr txBox="1"/>
          <p:nvPr/>
        </p:nvSpPr>
        <p:spPr>
          <a:xfrm>
            <a:off x="1384300" y="3703320"/>
            <a:ext cx="5643880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Advanced Analytics</a:t>
            </a:r>
          </a:p>
        </p:txBody>
      </p:sp>
      <p:sp>
        <p:nvSpPr>
          <p:cNvPr id="440" name="Google Shape;439;p25"/>
          <p:cNvSpPr txBox="1"/>
          <p:nvPr/>
        </p:nvSpPr>
        <p:spPr>
          <a:xfrm>
            <a:off x="1018539" y="4160520"/>
            <a:ext cx="340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441" name="Google Shape;440;p25"/>
          <p:cNvSpPr txBox="1"/>
          <p:nvPr/>
        </p:nvSpPr>
        <p:spPr>
          <a:xfrm>
            <a:off x="1384300" y="4160520"/>
            <a:ext cx="5643880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Bonus Analytics (Monte Carlo · Frontier)</a:t>
            </a:r>
          </a:p>
        </p:txBody>
      </p:sp>
      <p:sp>
        <p:nvSpPr>
          <p:cNvPr id="442" name="Google Shape;441;p25"/>
          <p:cNvSpPr txBox="1"/>
          <p:nvPr/>
        </p:nvSpPr>
        <p:spPr>
          <a:xfrm>
            <a:off x="1018539" y="4617720"/>
            <a:ext cx="340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443" name="Google Shape;442;p25"/>
          <p:cNvSpPr txBox="1"/>
          <p:nvPr/>
        </p:nvSpPr>
        <p:spPr>
          <a:xfrm>
            <a:off x="1384300" y="4617720"/>
            <a:ext cx="5643880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Recommendation Engine</a:t>
            </a:r>
          </a:p>
        </p:txBody>
      </p:sp>
      <p:sp>
        <p:nvSpPr>
          <p:cNvPr id="444" name="Google Shape;443;p25"/>
          <p:cNvSpPr txBox="1"/>
          <p:nvPr/>
        </p:nvSpPr>
        <p:spPr>
          <a:xfrm>
            <a:off x="1018539" y="5074920"/>
            <a:ext cx="340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>
                <a:solidFill>
                  <a:srgbClr val="6C4B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445" name="Google Shape;444;p25"/>
          <p:cNvSpPr txBox="1"/>
          <p:nvPr/>
        </p:nvSpPr>
        <p:spPr>
          <a:xfrm>
            <a:off x="1384300" y="5074920"/>
            <a:ext cx="5643880" cy="2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Tableau Dashboard</a:t>
            </a:r>
          </a:p>
        </p:txBody>
      </p:sp>
      <p:sp>
        <p:nvSpPr>
          <p:cNvPr id="446" name="Google Shape;445;p25"/>
          <p:cNvSpPr txBox="1"/>
          <p:nvPr/>
        </p:nvSpPr>
        <p:spPr>
          <a:xfrm>
            <a:off x="6596380" y="2705801"/>
            <a:ext cx="5003801" cy="440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 anchor="ctr">
            <a:spAutoFit/>
          </a:bodyPr>
          <a:lstStyle>
            <a:lvl1pPr>
              <a:defRPr i="1" sz="1500">
                <a:solidFill>
                  <a:srgbClr val="C7CCE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“Built an end-to-end analytics platform transforming raw mutual fund data into actionable investment insights.”</a:t>
            </a:r>
          </a:p>
        </p:txBody>
      </p:sp>
      <p:sp>
        <p:nvSpPr>
          <p:cNvPr id="447" name="Google Shape;446;p25"/>
          <p:cNvSpPr txBox="1"/>
          <p:nvPr/>
        </p:nvSpPr>
        <p:spPr>
          <a:xfrm>
            <a:off x="7821676" y="3429000"/>
            <a:ext cx="5461001" cy="47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b="1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Thank You </a:t>
            </a:r>
          </a:p>
        </p:txBody>
      </p:sp>
      <p:sp>
        <p:nvSpPr>
          <p:cNvPr id="448" name="Google Shape;448;p25"/>
          <p:cNvSpPr txBox="1"/>
          <p:nvPr/>
        </p:nvSpPr>
        <p:spPr>
          <a:xfrm>
            <a:off x="927100" y="6355079"/>
            <a:ext cx="9118600" cy="139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spAutoFit/>
          </a:bodyPr>
          <a:lstStyle>
            <a:lvl1pPr>
              <a:defRPr sz="900">
                <a:solidFill>
                  <a:srgbClr val="9FA8D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Dheeraj Reddy Thumma  ·  Data Analyst Intern  ·  Bluestock  ·  June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